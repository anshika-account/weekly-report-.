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E42"/>
        </a:solidFill>
        <a:effectLst/>
      </p:bgPr>
    </p:bg>
    <p:spTree>
      <p:nvGrpSpPr>
        <p:cNvPr id="1" name=""/>
        <p:cNvGrpSpPr/>
        <p:nvPr/>
      </p:nvGrpSpPr>
      <p:grpSpPr/>
      <p:sp>
        <p:nvSpPr>
          <p:cNvPr id="2" name="TextBox 1"/>
          <p:cNvSpPr txBox="1"/>
          <p:nvPr/>
        </p:nvSpPr>
        <p:spPr>
          <a:xfrm>
            <a:off x="640080" y="457200"/>
            <a:ext cx="8229600" cy="914400"/>
          </a:xfrm>
          <a:prstGeom prst="rect">
            <a:avLst/>
          </a:prstGeom>
          <a:noFill/>
        </p:spPr>
        <p:txBody>
          <a:bodyPr wrap="none">
            <a:spAutoFit/>
          </a:bodyPr>
          <a:lstStyle/>
          <a:p>
            <a:pPr>
              <a:defRPr sz="3400" b="1">
                <a:solidFill>
                  <a:srgbClr val="FFFFFF"/>
                </a:solidFill>
                <a:latin typeface="Segoe UI"/>
              </a:defRPr>
            </a:pPr>
            <a:r>
              <a:t>Internship Learning Report</a:t>
            </a:r>
          </a:p>
        </p:txBody>
      </p:sp>
      <p:sp>
        <p:nvSpPr>
          <p:cNvPr id="3" name="TextBox 2"/>
          <p:cNvSpPr txBox="1"/>
          <p:nvPr/>
        </p:nvSpPr>
        <p:spPr>
          <a:xfrm>
            <a:off x="640080" y="2011680"/>
            <a:ext cx="8229600" cy="5029200"/>
          </a:xfrm>
          <a:prstGeom prst="rect">
            <a:avLst/>
          </a:prstGeom>
          <a:noFill/>
        </p:spPr>
        <p:txBody>
          <a:bodyPr wrap="square">
            <a:spAutoFit/>
          </a:bodyPr>
          <a:lstStyle/>
          <a:p>
            <a:pPr>
              <a:defRPr sz="1400">
                <a:solidFill>
                  <a:srgbClr val="FFFFFF"/>
                </a:solidFill>
                <a:latin typeface="Calibri"/>
              </a:defRPr>
            </a:pPr>
            <a:r>
              <a:t>DevOps, Docker (Offline Installation), and Microservices using Spring Boot</a:t>
            </a:r>
          </a:p>
          <a:p/>
          <a:p>
            <a:r>
              <a:t>Presented by: Anshika Singh</a:t>
            </a:r>
          </a:p>
          <a:p/>
          <a:p>
            <a:r>
              <a:t>This presentation provides an in-depth explanation of the technologies studied during the internship program, covering theoretical understanding, practical implementation, architectural design, and deployment strategies.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9559B"/>
        </a:solidFill>
        <a:effectLst/>
      </p:bgPr>
    </p:bg>
    <p:spTree>
      <p:nvGrpSpPr>
        <p:cNvPr id="1" name=""/>
        <p:cNvGrpSpPr/>
        <p:nvPr/>
      </p:nvGrpSpPr>
      <p:grpSpPr/>
      <p:sp>
        <p:nvSpPr>
          <p:cNvPr id="2" name="TextBox 1"/>
          <p:cNvSpPr txBox="1"/>
          <p:nvPr/>
        </p:nvSpPr>
        <p:spPr>
          <a:xfrm>
            <a:off x="640080" y="457200"/>
            <a:ext cx="8229600" cy="914400"/>
          </a:xfrm>
          <a:prstGeom prst="rect">
            <a:avLst/>
          </a:prstGeom>
          <a:noFill/>
        </p:spPr>
        <p:txBody>
          <a:bodyPr wrap="none">
            <a:spAutoFit/>
          </a:bodyPr>
          <a:lstStyle/>
          <a:p>
            <a:pPr>
              <a:defRPr sz="3400" b="1">
                <a:solidFill>
                  <a:srgbClr val="FFFFFF"/>
                </a:solidFill>
                <a:latin typeface="Segoe UI"/>
              </a:defRPr>
            </a:pPr>
            <a:r>
              <a:t>DevOps – Detailed Explanation</a:t>
            </a:r>
          </a:p>
        </p:txBody>
      </p:sp>
      <p:sp>
        <p:nvSpPr>
          <p:cNvPr id="3" name="TextBox 2"/>
          <p:cNvSpPr txBox="1"/>
          <p:nvPr/>
        </p:nvSpPr>
        <p:spPr>
          <a:xfrm>
            <a:off x="640080" y="1371600"/>
            <a:ext cx="8229600" cy="5029200"/>
          </a:xfrm>
          <a:prstGeom prst="rect">
            <a:avLst/>
          </a:prstGeom>
          <a:noFill/>
        </p:spPr>
        <p:txBody>
          <a:bodyPr wrap="square">
            <a:spAutoFit/>
          </a:bodyPr>
          <a:lstStyle/>
          <a:p>
            <a:pPr>
              <a:defRPr sz="1400">
                <a:solidFill>
                  <a:srgbClr val="FFFFFF"/>
                </a:solidFill>
                <a:latin typeface="Calibri"/>
              </a:defRPr>
            </a:pPr>
            <a:r>
              <a:t>DevOps is a modern software development methodology that integrates the work of development and operations teams to improve collaboration, automation, and overall efficiency in the software delivery lifecycle. Traditionally, developers were responsible for writing code while operations teams handled deployment and maintenance. This separation often created communication gaps, delays, and deployment failures. DevOps eliminates these silos by encouraging shared responsibility and continuous feedback between teams.</a:t>
            </a:r>
          </a:p>
          <a:p/>
          <a:p>
            <a:r>
              <a:t>The DevOps lifecycle includes planning, coding, building, testing, releasing, deploying, operating, and monitoring. Automation plays a key role in DevOps practices. Continuous Integration (CI) ensures that code changes are merged and tested automatically, while Continuous Delivery (CD) enables automated deployment to staging or production environments. This reduces manual errors and speeds up release cycles.</a:t>
            </a:r>
          </a:p>
          <a:p/>
          <a:p>
            <a:r>
              <a:t>Monitoring and logging are also essential components, allowing teams to detect issues early and maintain system reliability. DevOps improves deployment frequency, reduces downtime, enhances scalability, and ensures faster time-to-market. It also supports Agile development practices and infrastructure as code (IaC), where infrastructure configuration is managed through version-controlled scripts. Overall, DevOps creates a culture of collaboration, accountability, and continuous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9559B"/>
        </a:solidFill>
        <a:effectLst/>
      </p:bgPr>
    </p:bg>
    <p:spTree>
      <p:nvGrpSpPr>
        <p:cNvPr id="1" name=""/>
        <p:cNvGrpSpPr/>
        <p:nvPr/>
      </p:nvGrpSpPr>
      <p:grpSpPr/>
      <p:sp>
        <p:nvSpPr>
          <p:cNvPr id="2" name="TextBox 1"/>
          <p:cNvSpPr txBox="1"/>
          <p:nvPr/>
        </p:nvSpPr>
        <p:spPr>
          <a:xfrm>
            <a:off x="640080" y="457200"/>
            <a:ext cx="8229600" cy="914400"/>
          </a:xfrm>
          <a:prstGeom prst="rect">
            <a:avLst/>
          </a:prstGeom>
          <a:noFill/>
        </p:spPr>
        <p:txBody>
          <a:bodyPr wrap="none">
            <a:spAutoFit/>
          </a:bodyPr>
          <a:lstStyle/>
          <a:p>
            <a:pPr>
              <a:defRPr sz="3400" b="1">
                <a:solidFill>
                  <a:srgbClr val="FFFFFF"/>
                </a:solidFill>
                <a:latin typeface="Segoe UI"/>
              </a:defRPr>
            </a:pPr>
            <a:r>
              <a:t>Docker – Detailed Explanation</a:t>
            </a:r>
          </a:p>
        </p:txBody>
      </p:sp>
      <p:sp>
        <p:nvSpPr>
          <p:cNvPr id="3" name="TextBox 2"/>
          <p:cNvSpPr txBox="1"/>
          <p:nvPr/>
        </p:nvSpPr>
        <p:spPr>
          <a:xfrm>
            <a:off x="640080" y="1371600"/>
            <a:ext cx="8229600" cy="5029200"/>
          </a:xfrm>
          <a:prstGeom prst="rect">
            <a:avLst/>
          </a:prstGeom>
          <a:noFill/>
        </p:spPr>
        <p:txBody>
          <a:bodyPr wrap="square">
            <a:spAutoFit/>
          </a:bodyPr>
          <a:lstStyle/>
          <a:p>
            <a:pPr>
              <a:defRPr sz="1400">
                <a:solidFill>
                  <a:srgbClr val="FFFFFF"/>
                </a:solidFill>
                <a:latin typeface="Calibri"/>
              </a:defRPr>
            </a:pPr>
            <a:r>
              <a:t>Docker is a containerization platform that allows applications and their dependencies to be packaged together into lightweight, portable units called containers. Unlike traditional virtual machines that require a full operating system for each instance, Docker containers share the host system’s kernel, making them more efficient and faster to start. This significantly reduces resource consumption while maintaining isolation between applications.</a:t>
            </a:r>
          </a:p>
          <a:p/>
          <a:p>
            <a:r>
              <a:t>Docker architecture consists of the Docker Client, Docker Engine, Images, and Containers. The client communicates with the Docker daemon, which builds and manages containers. Docker images are read-only templates that contain the application code, runtime, libraries, and environment variables. Containers are running instances of these images.</a:t>
            </a:r>
          </a:p>
          <a:p/>
          <a:p>
            <a:r>
              <a:t>One of the key advantages of Docker is environment consistency. Applications behave the same in development, testing, and production environments, eliminating the common issue of 'it works on my machine.' During the internship, offline installation of Docker was performed by downloading required binaries and dependencies on an internet-enabled system, transferring them to a restricted environment, and manually configuring services. This process enhanced understanding of system-level configuration and dependency management. Docker supports scalability, rapid deployment, microservices architecture, and efficient DevOps workflows.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9559B"/>
        </a:solidFill>
        <a:effectLst/>
      </p:bgPr>
    </p:bg>
    <p:spTree>
      <p:nvGrpSpPr>
        <p:cNvPr id="1" name=""/>
        <p:cNvGrpSpPr/>
        <p:nvPr/>
      </p:nvGrpSpPr>
      <p:grpSpPr/>
      <p:sp>
        <p:nvSpPr>
          <p:cNvPr id="2" name="TextBox 1"/>
          <p:cNvSpPr txBox="1"/>
          <p:nvPr/>
        </p:nvSpPr>
        <p:spPr>
          <a:xfrm>
            <a:off x="640080" y="457200"/>
            <a:ext cx="8229600" cy="914400"/>
          </a:xfrm>
          <a:prstGeom prst="rect">
            <a:avLst/>
          </a:prstGeom>
          <a:noFill/>
        </p:spPr>
        <p:txBody>
          <a:bodyPr wrap="none">
            <a:spAutoFit/>
          </a:bodyPr>
          <a:lstStyle/>
          <a:p>
            <a:pPr>
              <a:defRPr sz="3400" b="1">
                <a:solidFill>
                  <a:srgbClr val="FFFFFF"/>
                </a:solidFill>
                <a:latin typeface="Segoe UI"/>
              </a:defRPr>
            </a:pPr>
            <a:r>
              <a:t>Microservices Architecture – Detailed Explanation</a:t>
            </a:r>
          </a:p>
        </p:txBody>
      </p:sp>
      <p:sp>
        <p:nvSpPr>
          <p:cNvPr id="3" name="TextBox 2"/>
          <p:cNvSpPr txBox="1"/>
          <p:nvPr/>
        </p:nvSpPr>
        <p:spPr>
          <a:xfrm>
            <a:off x="640080" y="1371600"/>
            <a:ext cx="8229600" cy="5029200"/>
          </a:xfrm>
          <a:prstGeom prst="rect">
            <a:avLst/>
          </a:prstGeom>
          <a:noFill/>
        </p:spPr>
        <p:txBody>
          <a:bodyPr wrap="square">
            <a:spAutoFit/>
          </a:bodyPr>
          <a:lstStyle/>
          <a:p>
            <a:pPr>
              <a:defRPr sz="1400">
                <a:solidFill>
                  <a:srgbClr val="FFFFFF"/>
                </a:solidFill>
                <a:latin typeface="Calibri"/>
              </a:defRPr>
            </a:pPr>
            <a:r>
              <a:t>Microservices architecture is a design approach where a large application is divided into smaller, independent services that communicate with each other through APIs. Each microservice focuses on a specific business capability and can be developed, deployed, and scaled independently. This differs from monolithic architecture, where the entire application is built as a single unit.</a:t>
            </a:r>
          </a:p>
          <a:p/>
          <a:p>
            <a:r>
              <a:t>In a monolithic system, even a small change requires redeploying the entire application. This can increase downtime and complexity. In contrast, microservices allow individual components to be updated without affecting the whole system. This enhances scalability, flexibility, and maintainability.</a:t>
            </a:r>
          </a:p>
          <a:p/>
          <a:p>
            <a:r>
              <a:t>Microservices typically communicate using REST APIs or messaging systems. They can use different technologies and databases based on service requirements. Service discovery, API gateways, load balancing, and monitoring are important components in a microservices ecosystem. Docker containers are often used to deploy microservices efficiently.</a:t>
            </a:r>
          </a:p>
          <a:p/>
          <a:p>
            <a:r>
              <a:t>During the internship, the architecture design included separating services based on business logic and implementing REST endpoints using Spring Boot. This approach improved fault isolation, scalability, and faster feature deployment. Microservices are widely used in modern cloud-native applications due to their resilience and modular design.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E42"/>
        </a:solidFill>
        <a:effectLst/>
      </p:bgPr>
    </p:bg>
    <p:spTree>
      <p:nvGrpSpPr>
        <p:cNvPr id="1" name=""/>
        <p:cNvGrpSpPr/>
        <p:nvPr/>
      </p:nvGrpSpPr>
      <p:grpSpPr/>
      <p:sp>
        <p:nvSpPr>
          <p:cNvPr id="2" name="TextBox 1"/>
          <p:cNvSpPr txBox="1"/>
          <p:nvPr/>
        </p:nvSpPr>
        <p:spPr>
          <a:xfrm>
            <a:off x="640080" y="457200"/>
            <a:ext cx="8229600" cy="914400"/>
          </a:xfrm>
          <a:prstGeom prst="rect">
            <a:avLst/>
          </a:prstGeom>
          <a:noFill/>
        </p:spPr>
        <p:txBody>
          <a:bodyPr wrap="none">
            <a:spAutoFit/>
          </a:bodyPr>
          <a:lstStyle/>
          <a:p>
            <a:pPr>
              <a:defRPr sz="3400" b="1">
                <a:solidFill>
                  <a:srgbClr val="FFFFFF"/>
                </a:solidFill>
                <a:latin typeface="Segoe UI"/>
              </a:defRPr>
            </a:pPr>
            <a:r>
              <a:t>Spring Boot – Detailed Explanation</a:t>
            </a:r>
          </a:p>
        </p:txBody>
      </p:sp>
      <p:sp>
        <p:nvSpPr>
          <p:cNvPr id="3" name="TextBox 2"/>
          <p:cNvSpPr txBox="1"/>
          <p:nvPr/>
        </p:nvSpPr>
        <p:spPr>
          <a:xfrm>
            <a:off x="640080" y="1371600"/>
            <a:ext cx="8229600" cy="5029200"/>
          </a:xfrm>
          <a:prstGeom prst="rect">
            <a:avLst/>
          </a:prstGeom>
          <a:noFill/>
        </p:spPr>
        <p:txBody>
          <a:bodyPr wrap="square">
            <a:spAutoFit/>
          </a:bodyPr>
          <a:lstStyle/>
          <a:p>
            <a:pPr>
              <a:defRPr sz="1400">
                <a:solidFill>
                  <a:srgbClr val="FFFFFF"/>
                </a:solidFill>
                <a:latin typeface="Calibri"/>
              </a:defRPr>
            </a:pPr>
            <a:r>
              <a:t>Spring Boot is a Java-based framework that simplifies the development of enterprise-level applications and microservices. It is built on top of the Spring Framework and provides auto-configuration, embedded servers, and production-ready features. Spring Boot eliminates the need for complex XML configurations and reduces boilerplate code, allowing developers to focus on business logic.</a:t>
            </a:r>
          </a:p>
          <a:p/>
          <a:p>
            <a:r>
              <a:t>One of the major advantages of Spring Boot is its embedded server support, such as Tomcat or Jetty, which allows applications to run independently without requiring external server configuration. It also provides starter dependencies that simplify dependency management through Maven or Gradle.</a:t>
            </a:r>
          </a:p>
          <a:p/>
          <a:p>
            <a:r>
              <a:t>In microservices architecture, Spring Boot is commonly used to create RESTful APIs. It supports annotations for request mapping, dependency injection, exception handling, and security integration. Spring Boot also integrates seamlessly with Docker, making containerized deployment straightforward.</a:t>
            </a:r>
          </a:p>
          <a:p/>
          <a:p>
            <a:r>
              <a:t>During the internship, microservices were developed using Spring Boot to expose APIs and connect to databases. The framework’s simplicity and structured approach improved development speed and maintainability. Additionally, Spring Boot supports monitoring and health checks through Actuator, enabling better observability in production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