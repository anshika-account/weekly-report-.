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9753600" cy="7315200"/>
  <p:notesSz cx="6858000" cy="9144000"/>
  <p:embeddedFontLst>
    <p:embeddedFont>
      <p:font typeface="Georgia Bold" charset="1" panose="02040802050405020203"/>
      <p:regular r:id="rId14"/>
    </p:embeddedFont>
    <p:embeddedFont>
      <p:font typeface="Calibri (MS)" charset="1" panose="020F0502020204030204"/>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081428"/>
        </a:solidFill>
      </p:bgPr>
    </p:bg>
    <p:spTree>
      <p:nvGrpSpPr>
        <p:cNvPr id="1" name=""/>
        <p:cNvGrpSpPr/>
        <p:nvPr/>
      </p:nvGrpSpPr>
      <p:grpSpPr>
        <a:xfrm>
          <a:off x="0" y="0"/>
          <a:ext cx="0" cy="0"/>
          <a:chOff x="0" y="0"/>
          <a:chExt cx="0" cy="0"/>
        </a:xfrm>
      </p:grpSpPr>
      <p:grpSp>
        <p:nvGrpSpPr>
          <p:cNvPr name="Group 2" id="2"/>
          <p:cNvGrpSpPr/>
          <p:nvPr/>
        </p:nvGrpSpPr>
        <p:grpSpPr>
          <a:xfrm rot="0">
            <a:off x="0" y="4389120"/>
            <a:ext cx="12679680" cy="1950720"/>
            <a:chOff x="0" y="0"/>
            <a:chExt cx="16906240" cy="2600960"/>
          </a:xfrm>
        </p:grpSpPr>
        <p:sp>
          <p:nvSpPr>
            <p:cNvPr name="Freeform 3" id="3"/>
            <p:cNvSpPr/>
            <p:nvPr/>
          </p:nvSpPr>
          <p:spPr>
            <a:xfrm flipH="false" flipV="false" rot="0">
              <a:off x="0" y="0"/>
              <a:ext cx="16906239" cy="2600960"/>
            </a:xfrm>
            <a:custGeom>
              <a:avLst/>
              <a:gdLst/>
              <a:ahLst/>
              <a:cxnLst/>
              <a:rect r="r" b="b" t="t" l="l"/>
              <a:pathLst>
                <a:path h="2600960" w="16906239">
                  <a:moveTo>
                    <a:pt x="0" y="0"/>
                  </a:moveTo>
                  <a:lnTo>
                    <a:pt x="16906239" y="0"/>
                  </a:lnTo>
                  <a:lnTo>
                    <a:pt x="16906239" y="2600960"/>
                  </a:lnTo>
                  <a:lnTo>
                    <a:pt x="0" y="2600960"/>
                  </a:lnTo>
                  <a:close/>
                </a:path>
              </a:pathLst>
            </a:custGeom>
            <a:solidFill>
              <a:srgbClr val="0F376E"/>
            </a:solidFill>
          </p:spPr>
        </p:sp>
      </p:grpSp>
      <p:sp>
        <p:nvSpPr>
          <p:cNvPr name="TextBox 4" id="4"/>
          <p:cNvSpPr txBox="true"/>
          <p:nvPr/>
        </p:nvSpPr>
        <p:spPr>
          <a:xfrm rot="0">
            <a:off x="871728" y="621411"/>
            <a:ext cx="8595360" cy="893445"/>
          </a:xfrm>
          <a:prstGeom prst="rect">
            <a:avLst/>
          </a:prstGeom>
        </p:spPr>
        <p:txBody>
          <a:bodyPr anchor="t" rtlCol="false" tIns="0" lIns="0" bIns="0" rIns="0">
            <a:spAutoFit/>
          </a:bodyPr>
          <a:lstStyle/>
          <a:p>
            <a:pPr algn="l">
              <a:lnSpc>
                <a:spcPts val="4608"/>
              </a:lnSpc>
            </a:pPr>
            <a:r>
              <a:rPr lang="en-US" sz="3840" b="true">
                <a:solidFill>
                  <a:srgbClr val="00C8FF"/>
                </a:solidFill>
                <a:latin typeface="Georgia Bold"/>
                <a:ea typeface="Georgia Bold"/>
                <a:cs typeface="Georgia Bold"/>
                <a:sym typeface="Georgia Bold"/>
              </a:rPr>
              <a:t>Internship Overview</a:t>
            </a:r>
          </a:p>
        </p:txBody>
      </p:sp>
      <p:sp>
        <p:nvSpPr>
          <p:cNvPr name="TextBox 5" id="5"/>
          <p:cNvSpPr txBox="true"/>
          <p:nvPr/>
        </p:nvSpPr>
        <p:spPr>
          <a:xfrm rot="0">
            <a:off x="871728" y="1577721"/>
            <a:ext cx="8595360" cy="3448431"/>
          </a:xfrm>
          <a:prstGeom prst="rect">
            <a:avLst/>
          </a:prstGeom>
        </p:spPr>
        <p:txBody>
          <a:bodyPr anchor="t" rtlCol="false" tIns="0" lIns="0" bIns="0" rIns="0">
            <a:spAutoFit/>
          </a:bodyPr>
          <a:lstStyle/>
          <a:p>
            <a:pPr algn="l">
              <a:lnSpc>
                <a:spcPts val="1920"/>
              </a:lnSpc>
            </a:pPr>
            <a:r>
              <a:rPr lang="en-US" sz="1600">
                <a:solidFill>
                  <a:srgbClr val="FFFFFF"/>
                </a:solidFill>
                <a:latin typeface="Calibri (MS)"/>
                <a:ea typeface="Calibri (MS)"/>
                <a:cs typeface="Calibri (MS)"/>
                <a:sym typeface="Calibri (MS)"/>
              </a:rPr>
              <a:t>During my internship, I focused on modern backend technologies and deployment practices. The program emphasized understanding real-world software development workflows, DevOps culture, containerization using Docker, and service-based architecture using Spring Boot. Practical exposure included system configuration, environment setup, dependency management, and API development. The objective was to bridge the gap between theoretical concepts and real implementation. This internship strengthened my understanding of scalable system design, deployment automation, and application lifecycle management while improving troubleshooting skills and technical confidence.</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81428"/>
        </a:solidFill>
      </p:bgPr>
    </p:bg>
    <p:spTree>
      <p:nvGrpSpPr>
        <p:cNvPr id="1" name=""/>
        <p:cNvGrpSpPr/>
        <p:nvPr/>
      </p:nvGrpSpPr>
      <p:grpSpPr>
        <a:xfrm>
          <a:off x="0" y="0"/>
          <a:ext cx="0" cy="0"/>
          <a:chOff x="0" y="0"/>
          <a:chExt cx="0" cy="0"/>
        </a:xfrm>
      </p:grpSpPr>
      <p:grpSp>
        <p:nvGrpSpPr>
          <p:cNvPr name="Group 2" id="2"/>
          <p:cNvGrpSpPr/>
          <p:nvPr/>
        </p:nvGrpSpPr>
        <p:grpSpPr>
          <a:xfrm rot="0">
            <a:off x="0" y="4389120"/>
            <a:ext cx="12679680" cy="1950720"/>
            <a:chOff x="0" y="0"/>
            <a:chExt cx="16906240" cy="2600960"/>
          </a:xfrm>
        </p:grpSpPr>
        <p:sp>
          <p:nvSpPr>
            <p:cNvPr name="Freeform 3" id="3"/>
            <p:cNvSpPr/>
            <p:nvPr/>
          </p:nvSpPr>
          <p:spPr>
            <a:xfrm flipH="false" flipV="false" rot="0">
              <a:off x="0" y="0"/>
              <a:ext cx="16906239" cy="2600960"/>
            </a:xfrm>
            <a:custGeom>
              <a:avLst/>
              <a:gdLst/>
              <a:ahLst/>
              <a:cxnLst/>
              <a:rect r="r" b="b" t="t" l="l"/>
              <a:pathLst>
                <a:path h="2600960" w="16906239">
                  <a:moveTo>
                    <a:pt x="0" y="0"/>
                  </a:moveTo>
                  <a:lnTo>
                    <a:pt x="16906239" y="0"/>
                  </a:lnTo>
                  <a:lnTo>
                    <a:pt x="16906239" y="2600960"/>
                  </a:lnTo>
                  <a:lnTo>
                    <a:pt x="0" y="2600960"/>
                  </a:lnTo>
                  <a:close/>
                </a:path>
              </a:pathLst>
            </a:custGeom>
            <a:solidFill>
              <a:srgbClr val="0F376E"/>
            </a:solidFill>
          </p:spPr>
        </p:sp>
      </p:grpSp>
      <p:sp>
        <p:nvSpPr>
          <p:cNvPr name="TextBox 4" id="4"/>
          <p:cNvSpPr txBox="true"/>
          <p:nvPr/>
        </p:nvSpPr>
        <p:spPr>
          <a:xfrm rot="0">
            <a:off x="871728" y="621411"/>
            <a:ext cx="8595360" cy="893445"/>
          </a:xfrm>
          <a:prstGeom prst="rect">
            <a:avLst/>
          </a:prstGeom>
        </p:spPr>
        <p:txBody>
          <a:bodyPr anchor="t" rtlCol="false" tIns="0" lIns="0" bIns="0" rIns="0">
            <a:spAutoFit/>
          </a:bodyPr>
          <a:lstStyle/>
          <a:p>
            <a:pPr algn="l">
              <a:lnSpc>
                <a:spcPts val="4608"/>
              </a:lnSpc>
            </a:pPr>
            <a:r>
              <a:rPr lang="en-US" sz="3840" b="true">
                <a:solidFill>
                  <a:srgbClr val="00C8FF"/>
                </a:solidFill>
                <a:latin typeface="Georgia Bold"/>
                <a:ea typeface="Georgia Bold"/>
                <a:cs typeface="Georgia Bold"/>
                <a:sym typeface="Georgia Bold"/>
              </a:rPr>
              <a:t>DevOps Concept</a:t>
            </a:r>
          </a:p>
        </p:txBody>
      </p:sp>
      <p:sp>
        <p:nvSpPr>
          <p:cNvPr name="TextBox 5" id="5"/>
          <p:cNvSpPr txBox="true"/>
          <p:nvPr/>
        </p:nvSpPr>
        <p:spPr>
          <a:xfrm rot="0">
            <a:off x="871728" y="1577721"/>
            <a:ext cx="8595360" cy="3448431"/>
          </a:xfrm>
          <a:prstGeom prst="rect">
            <a:avLst/>
          </a:prstGeom>
        </p:spPr>
        <p:txBody>
          <a:bodyPr anchor="t" rtlCol="false" tIns="0" lIns="0" bIns="0" rIns="0">
            <a:spAutoFit/>
          </a:bodyPr>
          <a:lstStyle/>
          <a:p>
            <a:pPr algn="l">
              <a:lnSpc>
                <a:spcPts val="1920"/>
              </a:lnSpc>
            </a:pPr>
            <a:r>
              <a:rPr lang="en-US" sz="1600">
                <a:solidFill>
                  <a:srgbClr val="FFFFFF"/>
                </a:solidFill>
                <a:latin typeface="Calibri (MS)"/>
                <a:ea typeface="Calibri (MS)"/>
                <a:cs typeface="Calibri (MS)"/>
                <a:sym typeface="Calibri (MS)"/>
              </a:rPr>
              <a:t>DevOps is a collaborative methodology integrating development and operations teams to accelerate software delivery. It focuses on automation, continuous integration, continuous delivery, monitoring, and rapid feedback. By removing silos between teams, DevOps ensures faster development cycles and more reliable deployments. Automation tools help reduce manual errors and increase efficiency. Monitoring and logging provide system visibility, improving performance and stability. DevOps supports Agile practices and infrastructure as code, enabling consistent environments. This approach improves deployment frequency, reduces downtime, and enhances overall software quality.</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81428"/>
        </a:solidFill>
      </p:bgPr>
    </p:bg>
    <p:spTree>
      <p:nvGrpSpPr>
        <p:cNvPr id="1" name=""/>
        <p:cNvGrpSpPr/>
        <p:nvPr/>
      </p:nvGrpSpPr>
      <p:grpSpPr>
        <a:xfrm>
          <a:off x="0" y="0"/>
          <a:ext cx="0" cy="0"/>
          <a:chOff x="0" y="0"/>
          <a:chExt cx="0" cy="0"/>
        </a:xfrm>
      </p:grpSpPr>
      <p:grpSp>
        <p:nvGrpSpPr>
          <p:cNvPr name="Group 2" id="2"/>
          <p:cNvGrpSpPr/>
          <p:nvPr/>
        </p:nvGrpSpPr>
        <p:grpSpPr>
          <a:xfrm rot="0">
            <a:off x="0" y="4389120"/>
            <a:ext cx="12679680" cy="1950720"/>
            <a:chOff x="0" y="0"/>
            <a:chExt cx="16906240" cy="2600960"/>
          </a:xfrm>
        </p:grpSpPr>
        <p:sp>
          <p:nvSpPr>
            <p:cNvPr name="Freeform 3" id="3"/>
            <p:cNvSpPr/>
            <p:nvPr/>
          </p:nvSpPr>
          <p:spPr>
            <a:xfrm flipH="false" flipV="false" rot="0">
              <a:off x="0" y="0"/>
              <a:ext cx="16906239" cy="2600960"/>
            </a:xfrm>
            <a:custGeom>
              <a:avLst/>
              <a:gdLst/>
              <a:ahLst/>
              <a:cxnLst/>
              <a:rect r="r" b="b" t="t" l="l"/>
              <a:pathLst>
                <a:path h="2600960" w="16906239">
                  <a:moveTo>
                    <a:pt x="0" y="0"/>
                  </a:moveTo>
                  <a:lnTo>
                    <a:pt x="16906239" y="0"/>
                  </a:lnTo>
                  <a:lnTo>
                    <a:pt x="16906239" y="2600960"/>
                  </a:lnTo>
                  <a:lnTo>
                    <a:pt x="0" y="2600960"/>
                  </a:lnTo>
                  <a:close/>
                </a:path>
              </a:pathLst>
            </a:custGeom>
            <a:solidFill>
              <a:srgbClr val="0F376E"/>
            </a:solidFill>
          </p:spPr>
        </p:sp>
      </p:grpSp>
      <p:sp>
        <p:nvSpPr>
          <p:cNvPr name="TextBox 4" id="4"/>
          <p:cNvSpPr txBox="true"/>
          <p:nvPr/>
        </p:nvSpPr>
        <p:spPr>
          <a:xfrm rot="0">
            <a:off x="871728" y="621411"/>
            <a:ext cx="8595360" cy="893445"/>
          </a:xfrm>
          <a:prstGeom prst="rect">
            <a:avLst/>
          </a:prstGeom>
        </p:spPr>
        <p:txBody>
          <a:bodyPr anchor="t" rtlCol="false" tIns="0" lIns="0" bIns="0" rIns="0">
            <a:spAutoFit/>
          </a:bodyPr>
          <a:lstStyle/>
          <a:p>
            <a:pPr algn="l">
              <a:lnSpc>
                <a:spcPts val="4608"/>
              </a:lnSpc>
            </a:pPr>
            <a:r>
              <a:rPr lang="en-US" sz="3840" b="true">
                <a:solidFill>
                  <a:srgbClr val="00C8FF"/>
                </a:solidFill>
                <a:latin typeface="Georgia Bold"/>
                <a:ea typeface="Georgia Bold"/>
                <a:cs typeface="Georgia Bold"/>
                <a:sym typeface="Georgia Bold"/>
              </a:rPr>
              <a:t>CI/CD Pipeline</a:t>
            </a:r>
          </a:p>
        </p:txBody>
      </p:sp>
      <p:sp>
        <p:nvSpPr>
          <p:cNvPr name="TextBox 5" id="5"/>
          <p:cNvSpPr txBox="true"/>
          <p:nvPr/>
        </p:nvSpPr>
        <p:spPr>
          <a:xfrm rot="0">
            <a:off x="871728" y="1577721"/>
            <a:ext cx="8595360" cy="3448431"/>
          </a:xfrm>
          <a:prstGeom prst="rect">
            <a:avLst/>
          </a:prstGeom>
        </p:spPr>
        <p:txBody>
          <a:bodyPr anchor="t" rtlCol="false" tIns="0" lIns="0" bIns="0" rIns="0">
            <a:spAutoFit/>
          </a:bodyPr>
          <a:lstStyle/>
          <a:p>
            <a:pPr algn="l">
              <a:lnSpc>
                <a:spcPts val="1920"/>
              </a:lnSpc>
            </a:pPr>
            <a:r>
              <a:rPr lang="en-US" sz="1600">
                <a:solidFill>
                  <a:srgbClr val="FFFFFF"/>
                </a:solidFill>
                <a:latin typeface="Calibri (MS)"/>
                <a:ea typeface="Calibri (MS)"/>
                <a:cs typeface="Calibri (MS)"/>
                <a:sym typeface="Calibri (MS)"/>
              </a:rPr>
              <a:t>Continuous Integration involves frequently merging code into a shared repository where automated builds and tests are executed. Continuous Delivery ensures that validated builds are automatically prepared for deployment. CI/CD pipelines reduce integration conflicts, detect bugs early, and maintain consistent builds. Automation enhances productivity and reliability. Deployment processes become standardized and repeatable. This pipeline-driven approach ensures high-quality software releases with minimal human intervention. It enables faster feature rollout and supports modern cloud-native application development.</a:t>
            </a:r>
          </a:p>
        </p:txBody>
      </p:sp>
      <p:grpSp>
        <p:nvGrpSpPr>
          <p:cNvPr name="Group 6" id="6"/>
          <p:cNvGrpSpPr/>
          <p:nvPr/>
        </p:nvGrpSpPr>
        <p:grpSpPr>
          <a:xfrm rot="0">
            <a:off x="580139" y="4286507"/>
            <a:ext cx="1473203" cy="692915"/>
            <a:chOff x="0" y="0"/>
            <a:chExt cx="1964271" cy="923887"/>
          </a:xfrm>
        </p:grpSpPr>
        <p:sp>
          <p:nvSpPr>
            <p:cNvPr name="Freeform 7" id="7"/>
            <p:cNvSpPr/>
            <p:nvPr/>
          </p:nvSpPr>
          <p:spPr>
            <a:xfrm flipH="false" flipV="false" rot="0">
              <a:off x="6731" y="6731"/>
              <a:ext cx="1950720" cy="910463"/>
            </a:xfrm>
            <a:custGeom>
              <a:avLst/>
              <a:gdLst/>
              <a:ahLst/>
              <a:cxnLst/>
              <a:rect r="r" b="b" t="t" l="l"/>
              <a:pathLst>
                <a:path h="910463" w="1950720">
                  <a:moveTo>
                    <a:pt x="0" y="151765"/>
                  </a:moveTo>
                  <a:cubicBezTo>
                    <a:pt x="0" y="67945"/>
                    <a:pt x="68453" y="0"/>
                    <a:pt x="152908" y="0"/>
                  </a:cubicBezTo>
                  <a:lnTo>
                    <a:pt x="1797812" y="0"/>
                  </a:lnTo>
                  <a:cubicBezTo>
                    <a:pt x="1882267" y="0"/>
                    <a:pt x="1950720" y="67945"/>
                    <a:pt x="1950720" y="151765"/>
                  </a:cubicBezTo>
                  <a:lnTo>
                    <a:pt x="1950720" y="758698"/>
                  </a:lnTo>
                  <a:cubicBezTo>
                    <a:pt x="1950720" y="842518"/>
                    <a:pt x="1882267" y="910463"/>
                    <a:pt x="1797812" y="910463"/>
                  </a:cubicBezTo>
                  <a:lnTo>
                    <a:pt x="152908" y="910463"/>
                  </a:lnTo>
                  <a:cubicBezTo>
                    <a:pt x="68453" y="910336"/>
                    <a:pt x="0" y="842391"/>
                    <a:pt x="0" y="758698"/>
                  </a:cubicBezTo>
                  <a:close/>
                </a:path>
              </a:pathLst>
            </a:custGeom>
            <a:solidFill>
              <a:srgbClr val="00C8FF"/>
            </a:solidFill>
          </p:spPr>
        </p:sp>
        <p:sp>
          <p:nvSpPr>
            <p:cNvPr name="Freeform 8" id="8"/>
            <p:cNvSpPr/>
            <p:nvPr/>
          </p:nvSpPr>
          <p:spPr>
            <a:xfrm flipH="false" flipV="false" rot="0">
              <a:off x="0" y="0"/>
              <a:ext cx="1964182" cy="923925"/>
            </a:xfrm>
            <a:custGeom>
              <a:avLst/>
              <a:gdLst/>
              <a:ahLst/>
              <a:cxnLst/>
              <a:rect r="r" b="b" t="t" l="l"/>
              <a:pathLst>
                <a:path h="923925" w="1964182">
                  <a:moveTo>
                    <a:pt x="0" y="158496"/>
                  </a:moveTo>
                  <a:cubicBezTo>
                    <a:pt x="0" y="70866"/>
                    <a:pt x="71501" y="0"/>
                    <a:pt x="159639" y="0"/>
                  </a:cubicBezTo>
                  <a:lnTo>
                    <a:pt x="1804543" y="0"/>
                  </a:lnTo>
                  <a:lnTo>
                    <a:pt x="1804543" y="6731"/>
                  </a:lnTo>
                  <a:lnTo>
                    <a:pt x="1804543" y="0"/>
                  </a:lnTo>
                  <a:cubicBezTo>
                    <a:pt x="1892681" y="0"/>
                    <a:pt x="1964182" y="70866"/>
                    <a:pt x="1964182" y="158496"/>
                  </a:cubicBezTo>
                  <a:lnTo>
                    <a:pt x="1957451" y="158496"/>
                  </a:lnTo>
                  <a:lnTo>
                    <a:pt x="1964182" y="158496"/>
                  </a:lnTo>
                  <a:lnTo>
                    <a:pt x="1964182" y="765429"/>
                  </a:lnTo>
                  <a:lnTo>
                    <a:pt x="1957451" y="765429"/>
                  </a:lnTo>
                  <a:lnTo>
                    <a:pt x="1964182" y="765429"/>
                  </a:lnTo>
                  <a:cubicBezTo>
                    <a:pt x="1964182" y="853059"/>
                    <a:pt x="1892681" y="923925"/>
                    <a:pt x="1804543" y="923925"/>
                  </a:cubicBezTo>
                  <a:lnTo>
                    <a:pt x="1804543" y="917194"/>
                  </a:lnTo>
                  <a:lnTo>
                    <a:pt x="1804543" y="923925"/>
                  </a:lnTo>
                  <a:lnTo>
                    <a:pt x="159639" y="923925"/>
                  </a:lnTo>
                  <a:lnTo>
                    <a:pt x="159639" y="917194"/>
                  </a:lnTo>
                  <a:lnTo>
                    <a:pt x="159639" y="923925"/>
                  </a:lnTo>
                  <a:cubicBezTo>
                    <a:pt x="71501" y="923925"/>
                    <a:pt x="0" y="852932"/>
                    <a:pt x="0" y="765429"/>
                  </a:cubicBezTo>
                  <a:lnTo>
                    <a:pt x="0" y="158496"/>
                  </a:lnTo>
                  <a:lnTo>
                    <a:pt x="6731" y="158496"/>
                  </a:lnTo>
                  <a:lnTo>
                    <a:pt x="0" y="158496"/>
                  </a:lnTo>
                  <a:moveTo>
                    <a:pt x="13589" y="158496"/>
                  </a:moveTo>
                  <a:lnTo>
                    <a:pt x="13589" y="765429"/>
                  </a:lnTo>
                  <a:lnTo>
                    <a:pt x="6731" y="765429"/>
                  </a:lnTo>
                  <a:lnTo>
                    <a:pt x="13462" y="765429"/>
                  </a:lnTo>
                  <a:cubicBezTo>
                    <a:pt x="13462" y="845439"/>
                    <a:pt x="78867" y="910336"/>
                    <a:pt x="159639" y="910336"/>
                  </a:cubicBezTo>
                  <a:lnTo>
                    <a:pt x="1804543" y="910336"/>
                  </a:lnTo>
                  <a:cubicBezTo>
                    <a:pt x="1885315" y="910336"/>
                    <a:pt x="1950720" y="845439"/>
                    <a:pt x="1950720" y="765429"/>
                  </a:cubicBezTo>
                  <a:lnTo>
                    <a:pt x="1950720" y="158496"/>
                  </a:lnTo>
                  <a:cubicBezTo>
                    <a:pt x="1950720" y="78486"/>
                    <a:pt x="1885315" y="13589"/>
                    <a:pt x="1804543" y="13589"/>
                  </a:cubicBezTo>
                  <a:lnTo>
                    <a:pt x="159639" y="13589"/>
                  </a:lnTo>
                  <a:lnTo>
                    <a:pt x="159639" y="6731"/>
                  </a:lnTo>
                  <a:lnTo>
                    <a:pt x="159639" y="13462"/>
                  </a:lnTo>
                  <a:cubicBezTo>
                    <a:pt x="78867" y="13589"/>
                    <a:pt x="13589" y="78486"/>
                    <a:pt x="13589" y="158496"/>
                  </a:cubicBezTo>
                  <a:close/>
                </a:path>
              </a:pathLst>
            </a:custGeom>
            <a:solidFill>
              <a:srgbClr val="4A7EBB"/>
            </a:solidFill>
          </p:spPr>
        </p:sp>
        <p:sp>
          <p:nvSpPr>
            <p:cNvPr name="TextBox 9" id="9"/>
            <p:cNvSpPr txBox="true"/>
            <p:nvPr/>
          </p:nvSpPr>
          <p:spPr>
            <a:xfrm>
              <a:off x="0" y="-28575"/>
              <a:ext cx="1964271" cy="952462"/>
            </a:xfrm>
            <a:prstGeom prst="rect">
              <a:avLst/>
            </a:prstGeom>
          </p:spPr>
          <p:txBody>
            <a:bodyPr anchor="ctr" rtlCol="false" tIns="50800" lIns="50800" bIns="50800" rIns="50800"/>
            <a:lstStyle/>
            <a:p>
              <a:pPr algn="l">
                <a:lnSpc>
                  <a:spcPts val="1535"/>
                </a:lnSpc>
              </a:pPr>
              <a:r>
                <a:rPr lang="en-US" sz="1279">
                  <a:solidFill>
                    <a:srgbClr val="081428"/>
                  </a:solidFill>
                  <a:latin typeface="Calibri (MS)"/>
                  <a:ea typeface="Calibri (MS)"/>
                  <a:cs typeface="Calibri (MS)"/>
                  <a:sym typeface="Calibri (MS)"/>
                </a:rPr>
                <a:t>Code</a:t>
              </a:r>
            </a:p>
          </p:txBody>
        </p:sp>
      </p:grpSp>
      <p:grpSp>
        <p:nvGrpSpPr>
          <p:cNvPr name="Group 10" id="10"/>
          <p:cNvGrpSpPr/>
          <p:nvPr/>
        </p:nvGrpSpPr>
        <p:grpSpPr>
          <a:xfrm rot="0">
            <a:off x="2140715" y="4286507"/>
            <a:ext cx="1473203" cy="692915"/>
            <a:chOff x="0" y="0"/>
            <a:chExt cx="1964271" cy="923887"/>
          </a:xfrm>
        </p:grpSpPr>
        <p:sp>
          <p:nvSpPr>
            <p:cNvPr name="Freeform 11" id="11"/>
            <p:cNvSpPr/>
            <p:nvPr/>
          </p:nvSpPr>
          <p:spPr>
            <a:xfrm flipH="false" flipV="false" rot="0">
              <a:off x="6731" y="6731"/>
              <a:ext cx="1950720" cy="910463"/>
            </a:xfrm>
            <a:custGeom>
              <a:avLst/>
              <a:gdLst/>
              <a:ahLst/>
              <a:cxnLst/>
              <a:rect r="r" b="b" t="t" l="l"/>
              <a:pathLst>
                <a:path h="910463" w="1950720">
                  <a:moveTo>
                    <a:pt x="0" y="151765"/>
                  </a:moveTo>
                  <a:cubicBezTo>
                    <a:pt x="0" y="67945"/>
                    <a:pt x="68453" y="0"/>
                    <a:pt x="152908" y="0"/>
                  </a:cubicBezTo>
                  <a:lnTo>
                    <a:pt x="1797812" y="0"/>
                  </a:lnTo>
                  <a:cubicBezTo>
                    <a:pt x="1882267" y="0"/>
                    <a:pt x="1950720" y="67945"/>
                    <a:pt x="1950720" y="151765"/>
                  </a:cubicBezTo>
                  <a:lnTo>
                    <a:pt x="1950720" y="758698"/>
                  </a:lnTo>
                  <a:cubicBezTo>
                    <a:pt x="1950720" y="842518"/>
                    <a:pt x="1882267" y="910463"/>
                    <a:pt x="1797812" y="910463"/>
                  </a:cubicBezTo>
                  <a:lnTo>
                    <a:pt x="152908" y="910463"/>
                  </a:lnTo>
                  <a:cubicBezTo>
                    <a:pt x="68453" y="910336"/>
                    <a:pt x="0" y="842391"/>
                    <a:pt x="0" y="758698"/>
                  </a:cubicBezTo>
                  <a:close/>
                </a:path>
              </a:pathLst>
            </a:custGeom>
            <a:solidFill>
              <a:srgbClr val="00C8FF"/>
            </a:solidFill>
          </p:spPr>
        </p:sp>
        <p:sp>
          <p:nvSpPr>
            <p:cNvPr name="Freeform 12" id="12"/>
            <p:cNvSpPr/>
            <p:nvPr/>
          </p:nvSpPr>
          <p:spPr>
            <a:xfrm flipH="false" flipV="false" rot="0">
              <a:off x="0" y="0"/>
              <a:ext cx="1964182" cy="923925"/>
            </a:xfrm>
            <a:custGeom>
              <a:avLst/>
              <a:gdLst/>
              <a:ahLst/>
              <a:cxnLst/>
              <a:rect r="r" b="b" t="t" l="l"/>
              <a:pathLst>
                <a:path h="923925" w="1964182">
                  <a:moveTo>
                    <a:pt x="0" y="158496"/>
                  </a:moveTo>
                  <a:cubicBezTo>
                    <a:pt x="0" y="70866"/>
                    <a:pt x="71501" y="0"/>
                    <a:pt x="159639" y="0"/>
                  </a:cubicBezTo>
                  <a:lnTo>
                    <a:pt x="1804543" y="0"/>
                  </a:lnTo>
                  <a:lnTo>
                    <a:pt x="1804543" y="6731"/>
                  </a:lnTo>
                  <a:lnTo>
                    <a:pt x="1804543" y="0"/>
                  </a:lnTo>
                  <a:cubicBezTo>
                    <a:pt x="1892681" y="0"/>
                    <a:pt x="1964182" y="70866"/>
                    <a:pt x="1964182" y="158496"/>
                  </a:cubicBezTo>
                  <a:lnTo>
                    <a:pt x="1957451" y="158496"/>
                  </a:lnTo>
                  <a:lnTo>
                    <a:pt x="1964182" y="158496"/>
                  </a:lnTo>
                  <a:lnTo>
                    <a:pt x="1964182" y="765429"/>
                  </a:lnTo>
                  <a:lnTo>
                    <a:pt x="1957451" y="765429"/>
                  </a:lnTo>
                  <a:lnTo>
                    <a:pt x="1964182" y="765429"/>
                  </a:lnTo>
                  <a:cubicBezTo>
                    <a:pt x="1964182" y="853059"/>
                    <a:pt x="1892681" y="923925"/>
                    <a:pt x="1804543" y="923925"/>
                  </a:cubicBezTo>
                  <a:lnTo>
                    <a:pt x="1804543" y="917194"/>
                  </a:lnTo>
                  <a:lnTo>
                    <a:pt x="1804543" y="923925"/>
                  </a:lnTo>
                  <a:lnTo>
                    <a:pt x="159639" y="923925"/>
                  </a:lnTo>
                  <a:lnTo>
                    <a:pt x="159639" y="917194"/>
                  </a:lnTo>
                  <a:lnTo>
                    <a:pt x="159639" y="923925"/>
                  </a:lnTo>
                  <a:cubicBezTo>
                    <a:pt x="71501" y="923925"/>
                    <a:pt x="0" y="852932"/>
                    <a:pt x="0" y="765429"/>
                  </a:cubicBezTo>
                  <a:lnTo>
                    <a:pt x="0" y="158496"/>
                  </a:lnTo>
                  <a:lnTo>
                    <a:pt x="6731" y="158496"/>
                  </a:lnTo>
                  <a:lnTo>
                    <a:pt x="0" y="158496"/>
                  </a:lnTo>
                  <a:moveTo>
                    <a:pt x="13589" y="158496"/>
                  </a:moveTo>
                  <a:lnTo>
                    <a:pt x="13589" y="765429"/>
                  </a:lnTo>
                  <a:lnTo>
                    <a:pt x="6731" y="765429"/>
                  </a:lnTo>
                  <a:lnTo>
                    <a:pt x="13462" y="765429"/>
                  </a:lnTo>
                  <a:cubicBezTo>
                    <a:pt x="13462" y="845439"/>
                    <a:pt x="78867" y="910336"/>
                    <a:pt x="159639" y="910336"/>
                  </a:cubicBezTo>
                  <a:lnTo>
                    <a:pt x="1804543" y="910336"/>
                  </a:lnTo>
                  <a:cubicBezTo>
                    <a:pt x="1885315" y="910336"/>
                    <a:pt x="1950720" y="845439"/>
                    <a:pt x="1950720" y="765429"/>
                  </a:cubicBezTo>
                  <a:lnTo>
                    <a:pt x="1950720" y="158496"/>
                  </a:lnTo>
                  <a:cubicBezTo>
                    <a:pt x="1950720" y="78486"/>
                    <a:pt x="1885315" y="13589"/>
                    <a:pt x="1804543" y="13589"/>
                  </a:cubicBezTo>
                  <a:lnTo>
                    <a:pt x="159639" y="13589"/>
                  </a:lnTo>
                  <a:lnTo>
                    <a:pt x="159639" y="6731"/>
                  </a:lnTo>
                  <a:lnTo>
                    <a:pt x="159639" y="13462"/>
                  </a:lnTo>
                  <a:cubicBezTo>
                    <a:pt x="78867" y="13589"/>
                    <a:pt x="13589" y="78486"/>
                    <a:pt x="13589" y="158496"/>
                  </a:cubicBezTo>
                  <a:close/>
                </a:path>
              </a:pathLst>
            </a:custGeom>
            <a:solidFill>
              <a:srgbClr val="4A7EBB"/>
            </a:solidFill>
          </p:spPr>
        </p:sp>
        <p:sp>
          <p:nvSpPr>
            <p:cNvPr name="TextBox 13" id="13"/>
            <p:cNvSpPr txBox="true"/>
            <p:nvPr/>
          </p:nvSpPr>
          <p:spPr>
            <a:xfrm>
              <a:off x="0" y="-28575"/>
              <a:ext cx="1964271" cy="952462"/>
            </a:xfrm>
            <a:prstGeom prst="rect">
              <a:avLst/>
            </a:prstGeom>
          </p:spPr>
          <p:txBody>
            <a:bodyPr anchor="ctr" rtlCol="false" tIns="50800" lIns="50800" bIns="50800" rIns="50800"/>
            <a:lstStyle/>
            <a:p>
              <a:pPr algn="l">
                <a:lnSpc>
                  <a:spcPts val="1535"/>
                </a:lnSpc>
              </a:pPr>
              <a:r>
                <a:rPr lang="en-US" sz="1279">
                  <a:solidFill>
                    <a:srgbClr val="081428"/>
                  </a:solidFill>
                  <a:latin typeface="Calibri (MS)"/>
                  <a:ea typeface="Calibri (MS)"/>
                  <a:cs typeface="Calibri (MS)"/>
                  <a:sym typeface="Calibri (MS)"/>
                </a:rPr>
                <a:t>Build</a:t>
              </a:r>
            </a:p>
          </p:txBody>
        </p:sp>
      </p:grpSp>
      <p:grpSp>
        <p:nvGrpSpPr>
          <p:cNvPr name="Group 14" id="14"/>
          <p:cNvGrpSpPr/>
          <p:nvPr/>
        </p:nvGrpSpPr>
        <p:grpSpPr>
          <a:xfrm rot="0">
            <a:off x="3701291" y="4286507"/>
            <a:ext cx="1473203" cy="692915"/>
            <a:chOff x="0" y="0"/>
            <a:chExt cx="1964271" cy="923887"/>
          </a:xfrm>
        </p:grpSpPr>
        <p:sp>
          <p:nvSpPr>
            <p:cNvPr name="Freeform 15" id="15"/>
            <p:cNvSpPr/>
            <p:nvPr/>
          </p:nvSpPr>
          <p:spPr>
            <a:xfrm flipH="false" flipV="false" rot="0">
              <a:off x="6731" y="6731"/>
              <a:ext cx="1950720" cy="910463"/>
            </a:xfrm>
            <a:custGeom>
              <a:avLst/>
              <a:gdLst/>
              <a:ahLst/>
              <a:cxnLst/>
              <a:rect r="r" b="b" t="t" l="l"/>
              <a:pathLst>
                <a:path h="910463" w="1950720">
                  <a:moveTo>
                    <a:pt x="0" y="151765"/>
                  </a:moveTo>
                  <a:cubicBezTo>
                    <a:pt x="0" y="67945"/>
                    <a:pt x="68453" y="0"/>
                    <a:pt x="152908" y="0"/>
                  </a:cubicBezTo>
                  <a:lnTo>
                    <a:pt x="1797812" y="0"/>
                  </a:lnTo>
                  <a:cubicBezTo>
                    <a:pt x="1882267" y="0"/>
                    <a:pt x="1950720" y="67945"/>
                    <a:pt x="1950720" y="151765"/>
                  </a:cubicBezTo>
                  <a:lnTo>
                    <a:pt x="1950720" y="758698"/>
                  </a:lnTo>
                  <a:cubicBezTo>
                    <a:pt x="1950720" y="842518"/>
                    <a:pt x="1882267" y="910463"/>
                    <a:pt x="1797812" y="910463"/>
                  </a:cubicBezTo>
                  <a:lnTo>
                    <a:pt x="152908" y="910463"/>
                  </a:lnTo>
                  <a:cubicBezTo>
                    <a:pt x="68453" y="910336"/>
                    <a:pt x="0" y="842391"/>
                    <a:pt x="0" y="758698"/>
                  </a:cubicBezTo>
                  <a:close/>
                </a:path>
              </a:pathLst>
            </a:custGeom>
            <a:solidFill>
              <a:srgbClr val="00C8FF"/>
            </a:solidFill>
          </p:spPr>
        </p:sp>
        <p:sp>
          <p:nvSpPr>
            <p:cNvPr name="Freeform 16" id="16"/>
            <p:cNvSpPr/>
            <p:nvPr/>
          </p:nvSpPr>
          <p:spPr>
            <a:xfrm flipH="false" flipV="false" rot="0">
              <a:off x="0" y="0"/>
              <a:ext cx="1964182" cy="923925"/>
            </a:xfrm>
            <a:custGeom>
              <a:avLst/>
              <a:gdLst/>
              <a:ahLst/>
              <a:cxnLst/>
              <a:rect r="r" b="b" t="t" l="l"/>
              <a:pathLst>
                <a:path h="923925" w="1964182">
                  <a:moveTo>
                    <a:pt x="0" y="158496"/>
                  </a:moveTo>
                  <a:cubicBezTo>
                    <a:pt x="0" y="70866"/>
                    <a:pt x="71501" y="0"/>
                    <a:pt x="159639" y="0"/>
                  </a:cubicBezTo>
                  <a:lnTo>
                    <a:pt x="1804543" y="0"/>
                  </a:lnTo>
                  <a:lnTo>
                    <a:pt x="1804543" y="6731"/>
                  </a:lnTo>
                  <a:lnTo>
                    <a:pt x="1804543" y="0"/>
                  </a:lnTo>
                  <a:cubicBezTo>
                    <a:pt x="1892681" y="0"/>
                    <a:pt x="1964182" y="70866"/>
                    <a:pt x="1964182" y="158496"/>
                  </a:cubicBezTo>
                  <a:lnTo>
                    <a:pt x="1957451" y="158496"/>
                  </a:lnTo>
                  <a:lnTo>
                    <a:pt x="1964182" y="158496"/>
                  </a:lnTo>
                  <a:lnTo>
                    <a:pt x="1964182" y="765429"/>
                  </a:lnTo>
                  <a:lnTo>
                    <a:pt x="1957451" y="765429"/>
                  </a:lnTo>
                  <a:lnTo>
                    <a:pt x="1964182" y="765429"/>
                  </a:lnTo>
                  <a:cubicBezTo>
                    <a:pt x="1964182" y="853059"/>
                    <a:pt x="1892681" y="923925"/>
                    <a:pt x="1804543" y="923925"/>
                  </a:cubicBezTo>
                  <a:lnTo>
                    <a:pt x="1804543" y="917194"/>
                  </a:lnTo>
                  <a:lnTo>
                    <a:pt x="1804543" y="923925"/>
                  </a:lnTo>
                  <a:lnTo>
                    <a:pt x="159639" y="923925"/>
                  </a:lnTo>
                  <a:lnTo>
                    <a:pt x="159639" y="917194"/>
                  </a:lnTo>
                  <a:lnTo>
                    <a:pt x="159639" y="923925"/>
                  </a:lnTo>
                  <a:cubicBezTo>
                    <a:pt x="71501" y="923925"/>
                    <a:pt x="0" y="852932"/>
                    <a:pt x="0" y="765429"/>
                  </a:cubicBezTo>
                  <a:lnTo>
                    <a:pt x="0" y="158496"/>
                  </a:lnTo>
                  <a:lnTo>
                    <a:pt x="6731" y="158496"/>
                  </a:lnTo>
                  <a:lnTo>
                    <a:pt x="0" y="158496"/>
                  </a:lnTo>
                  <a:moveTo>
                    <a:pt x="13589" y="158496"/>
                  </a:moveTo>
                  <a:lnTo>
                    <a:pt x="13589" y="765429"/>
                  </a:lnTo>
                  <a:lnTo>
                    <a:pt x="6731" y="765429"/>
                  </a:lnTo>
                  <a:lnTo>
                    <a:pt x="13462" y="765429"/>
                  </a:lnTo>
                  <a:cubicBezTo>
                    <a:pt x="13462" y="845439"/>
                    <a:pt x="78867" y="910336"/>
                    <a:pt x="159639" y="910336"/>
                  </a:cubicBezTo>
                  <a:lnTo>
                    <a:pt x="1804543" y="910336"/>
                  </a:lnTo>
                  <a:cubicBezTo>
                    <a:pt x="1885315" y="910336"/>
                    <a:pt x="1950720" y="845439"/>
                    <a:pt x="1950720" y="765429"/>
                  </a:cubicBezTo>
                  <a:lnTo>
                    <a:pt x="1950720" y="158496"/>
                  </a:lnTo>
                  <a:cubicBezTo>
                    <a:pt x="1950720" y="78486"/>
                    <a:pt x="1885315" y="13589"/>
                    <a:pt x="1804543" y="13589"/>
                  </a:cubicBezTo>
                  <a:lnTo>
                    <a:pt x="159639" y="13589"/>
                  </a:lnTo>
                  <a:lnTo>
                    <a:pt x="159639" y="6731"/>
                  </a:lnTo>
                  <a:lnTo>
                    <a:pt x="159639" y="13462"/>
                  </a:lnTo>
                  <a:cubicBezTo>
                    <a:pt x="78867" y="13589"/>
                    <a:pt x="13589" y="78486"/>
                    <a:pt x="13589" y="158496"/>
                  </a:cubicBezTo>
                  <a:close/>
                </a:path>
              </a:pathLst>
            </a:custGeom>
            <a:solidFill>
              <a:srgbClr val="4A7EBB"/>
            </a:solidFill>
          </p:spPr>
        </p:sp>
        <p:sp>
          <p:nvSpPr>
            <p:cNvPr name="TextBox 17" id="17"/>
            <p:cNvSpPr txBox="true"/>
            <p:nvPr/>
          </p:nvSpPr>
          <p:spPr>
            <a:xfrm>
              <a:off x="0" y="-28575"/>
              <a:ext cx="1964271" cy="952462"/>
            </a:xfrm>
            <a:prstGeom prst="rect">
              <a:avLst/>
            </a:prstGeom>
          </p:spPr>
          <p:txBody>
            <a:bodyPr anchor="ctr" rtlCol="false" tIns="50800" lIns="50800" bIns="50800" rIns="50800"/>
            <a:lstStyle/>
            <a:p>
              <a:pPr algn="l">
                <a:lnSpc>
                  <a:spcPts val="1535"/>
                </a:lnSpc>
              </a:pPr>
              <a:r>
                <a:rPr lang="en-US" sz="1279">
                  <a:solidFill>
                    <a:srgbClr val="081428"/>
                  </a:solidFill>
                  <a:latin typeface="Calibri (MS)"/>
                  <a:ea typeface="Calibri (MS)"/>
                  <a:cs typeface="Calibri (MS)"/>
                  <a:sym typeface="Calibri (MS)"/>
                </a:rPr>
                <a:t>Test</a:t>
              </a:r>
            </a:p>
          </p:txBody>
        </p:sp>
      </p:grpSp>
      <p:grpSp>
        <p:nvGrpSpPr>
          <p:cNvPr name="Group 18" id="18"/>
          <p:cNvGrpSpPr/>
          <p:nvPr/>
        </p:nvGrpSpPr>
        <p:grpSpPr>
          <a:xfrm rot="0">
            <a:off x="5261867" y="4286507"/>
            <a:ext cx="1473203" cy="692915"/>
            <a:chOff x="0" y="0"/>
            <a:chExt cx="1964271" cy="923887"/>
          </a:xfrm>
        </p:grpSpPr>
        <p:sp>
          <p:nvSpPr>
            <p:cNvPr name="Freeform 19" id="19"/>
            <p:cNvSpPr/>
            <p:nvPr/>
          </p:nvSpPr>
          <p:spPr>
            <a:xfrm flipH="false" flipV="false" rot="0">
              <a:off x="6731" y="6731"/>
              <a:ext cx="1950720" cy="910463"/>
            </a:xfrm>
            <a:custGeom>
              <a:avLst/>
              <a:gdLst/>
              <a:ahLst/>
              <a:cxnLst/>
              <a:rect r="r" b="b" t="t" l="l"/>
              <a:pathLst>
                <a:path h="910463" w="1950720">
                  <a:moveTo>
                    <a:pt x="0" y="151765"/>
                  </a:moveTo>
                  <a:cubicBezTo>
                    <a:pt x="0" y="67945"/>
                    <a:pt x="68453" y="0"/>
                    <a:pt x="152908" y="0"/>
                  </a:cubicBezTo>
                  <a:lnTo>
                    <a:pt x="1797812" y="0"/>
                  </a:lnTo>
                  <a:cubicBezTo>
                    <a:pt x="1882267" y="0"/>
                    <a:pt x="1950720" y="67945"/>
                    <a:pt x="1950720" y="151765"/>
                  </a:cubicBezTo>
                  <a:lnTo>
                    <a:pt x="1950720" y="758698"/>
                  </a:lnTo>
                  <a:cubicBezTo>
                    <a:pt x="1950720" y="842518"/>
                    <a:pt x="1882267" y="910463"/>
                    <a:pt x="1797812" y="910463"/>
                  </a:cubicBezTo>
                  <a:lnTo>
                    <a:pt x="152908" y="910463"/>
                  </a:lnTo>
                  <a:cubicBezTo>
                    <a:pt x="68453" y="910336"/>
                    <a:pt x="0" y="842391"/>
                    <a:pt x="0" y="758698"/>
                  </a:cubicBezTo>
                  <a:close/>
                </a:path>
              </a:pathLst>
            </a:custGeom>
            <a:solidFill>
              <a:srgbClr val="00C8FF"/>
            </a:solidFill>
          </p:spPr>
        </p:sp>
        <p:sp>
          <p:nvSpPr>
            <p:cNvPr name="Freeform 20" id="20"/>
            <p:cNvSpPr/>
            <p:nvPr/>
          </p:nvSpPr>
          <p:spPr>
            <a:xfrm flipH="false" flipV="false" rot="0">
              <a:off x="0" y="0"/>
              <a:ext cx="1964182" cy="923925"/>
            </a:xfrm>
            <a:custGeom>
              <a:avLst/>
              <a:gdLst/>
              <a:ahLst/>
              <a:cxnLst/>
              <a:rect r="r" b="b" t="t" l="l"/>
              <a:pathLst>
                <a:path h="923925" w="1964182">
                  <a:moveTo>
                    <a:pt x="0" y="158496"/>
                  </a:moveTo>
                  <a:cubicBezTo>
                    <a:pt x="0" y="70866"/>
                    <a:pt x="71501" y="0"/>
                    <a:pt x="159639" y="0"/>
                  </a:cubicBezTo>
                  <a:lnTo>
                    <a:pt x="1804543" y="0"/>
                  </a:lnTo>
                  <a:lnTo>
                    <a:pt x="1804543" y="6731"/>
                  </a:lnTo>
                  <a:lnTo>
                    <a:pt x="1804543" y="0"/>
                  </a:lnTo>
                  <a:cubicBezTo>
                    <a:pt x="1892681" y="0"/>
                    <a:pt x="1964182" y="70866"/>
                    <a:pt x="1964182" y="158496"/>
                  </a:cubicBezTo>
                  <a:lnTo>
                    <a:pt x="1957451" y="158496"/>
                  </a:lnTo>
                  <a:lnTo>
                    <a:pt x="1964182" y="158496"/>
                  </a:lnTo>
                  <a:lnTo>
                    <a:pt x="1964182" y="765429"/>
                  </a:lnTo>
                  <a:lnTo>
                    <a:pt x="1957451" y="765429"/>
                  </a:lnTo>
                  <a:lnTo>
                    <a:pt x="1964182" y="765429"/>
                  </a:lnTo>
                  <a:cubicBezTo>
                    <a:pt x="1964182" y="853059"/>
                    <a:pt x="1892681" y="923925"/>
                    <a:pt x="1804543" y="923925"/>
                  </a:cubicBezTo>
                  <a:lnTo>
                    <a:pt x="1804543" y="917194"/>
                  </a:lnTo>
                  <a:lnTo>
                    <a:pt x="1804543" y="923925"/>
                  </a:lnTo>
                  <a:lnTo>
                    <a:pt x="159639" y="923925"/>
                  </a:lnTo>
                  <a:lnTo>
                    <a:pt x="159639" y="917194"/>
                  </a:lnTo>
                  <a:lnTo>
                    <a:pt x="159639" y="923925"/>
                  </a:lnTo>
                  <a:cubicBezTo>
                    <a:pt x="71501" y="923925"/>
                    <a:pt x="0" y="852932"/>
                    <a:pt x="0" y="765429"/>
                  </a:cubicBezTo>
                  <a:lnTo>
                    <a:pt x="0" y="158496"/>
                  </a:lnTo>
                  <a:lnTo>
                    <a:pt x="6731" y="158496"/>
                  </a:lnTo>
                  <a:lnTo>
                    <a:pt x="0" y="158496"/>
                  </a:lnTo>
                  <a:moveTo>
                    <a:pt x="13589" y="158496"/>
                  </a:moveTo>
                  <a:lnTo>
                    <a:pt x="13589" y="765429"/>
                  </a:lnTo>
                  <a:lnTo>
                    <a:pt x="6731" y="765429"/>
                  </a:lnTo>
                  <a:lnTo>
                    <a:pt x="13462" y="765429"/>
                  </a:lnTo>
                  <a:cubicBezTo>
                    <a:pt x="13462" y="845439"/>
                    <a:pt x="78867" y="910336"/>
                    <a:pt x="159639" y="910336"/>
                  </a:cubicBezTo>
                  <a:lnTo>
                    <a:pt x="1804543" y="910336"/>
                  </a:lnTo>
                  <a:cubicBezTo>
                    <a:pt x="1885315" y="910336"/>
                    <a:pt x="1950720" y="845439"/>
                    <a:pt x="1950720" y="765429"/>
                  </a:cubicBezTo>
                  <a:lnTo>
                    <a:pt x="1950720" y="158496"/>
                  </a:lnTo>
                  <a:cubicBezTo>
                    <a:pt x="1950720" y="78486"/>
                    <a:pt x="1885315" y="13589"/>
                    <a:pt x="1804543" y="13589"/>
                  </a:cubicBezTo>
                  <a:lnTo>
                    <a:pt x="159639" y="13589"/>
                  </a:lnTo>
                  <a:lnTo>
                    <a:pt x="159639" y="6731"/>
                  </a:lnTo>
                  <a:lnTo>
                    <a:pt x="159639" y="13462"/>
                  </a:lnTo>
                  <a:cubicBezTo>
                    <a:pt x="78867" y="13589"/>
                    <a:pt x="13589" y="78486"/>
                    <a:pt x="13589" y="158496"/>
                  </a:cubicBezTo>
                  <a:close/>
                </a:path>
              </a:pathLst>
            </a:custGeom>
            <a:solidFill>
              <a:srgbClr val="4A7EBB"/>
            </a:solidFill>
          </p:spPr>
        </p:sp>
        <p:sp>
          <p:nvSpPr>
            <p:cNvPr name="TextBox 21" id="21"/>
            <p:cNvSpPr txBox="true"/>
            <p:nvPr/>
          </p:nvSpPr>
          <p:spPr>
            <a:xfrm>
              <a:off x="0" y="-28575"/>
              <a:ext cx="1964271" cy="952462"/>
            </a:xfrm>
            <a:prstGeom prst="rect">
              <a:avLst/>
            </a:prstGeom>
          </p:spPr>
          <p:txBody>
            <a:bodyPr anchor="ctr" rtlCol="false" tIns="50800" lIns="50800" bIns="50800" rIns="50800"/>
            <a:lstStyle/>
            <a:p>
              <a:pPr algn="l">
                <a:lnSpc>
                  <a:spcPts val="1535"/>
                </a:lnSpc>
              </a:pPr>
              <a:r>
                <a:rPr lang="en-US" sz="1279">
                  <a:solidFill>
                    <a:srgbClr val="081428"/>
                  </a:solidFill>
                  <a:latin typeface="Calibri (MS)"/>
                  <a:ea typeface="Calibri (MS)"/>
                  <a:cs typeface="Calibri (MS)"/>
                  <a:sym typeface="Calibri (MS)"/>
                </a:rPr>
                <a:t>Deploy</a:t>
              </a: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081428"/>
        </a:solidFill>
      </p:bgPr>
    </p:bg>
    <p:spTree>
      <p:nvGrpSpPr>
        <p:cNvPr id="1" name=""/>
        <p:cNvGrpSpPr/>
        <p:nvPr/>
      </p:nvGrpSpPr>
      <p:grpSpPr>
        <a:xfrm>
          <a:off x="0" y="0"/>
          <a:ext cx="0" cy="0"/>
          <a:chOff x="0" y="0"/>
          <a:chExt cx="0" cy="0"/>
        </a:xfrm>
      </p:grpSpPr>
      <p:grpSp>
        <p:nvGrpSpPr>
          <p:cNvPr name="Group 2" id="2"/>
          <p:cNvGrpSpPr/>
          <p:nvPr/>
        </p:nvGrpSpPr>
        <p:grpSpPr>
          <a:xfrm rot="0">
            <a:off x="0" y="4389120"/>
            <a:ext cx="12679680" cy="1950720"/>
            <a:chOff x="0" y="0"/>
            <a:chExt cx="16906240" cy="2600960"/>
          </a:xfrm>
        </p:grpSpPr>
        <p:sp>
          <p:nvSpPr>
            <p:cNvPr name="Freeform 3" id="3"/>
            <p:cNvSpPr/>
            <p:nvPr/>
          </p:nvSpPr>
          <p:spPr>
            <a:xfrm flipH="false" flipV="false" rot="0">
              <a:off x="0" y="0"/>
              <a:ext cx="16906239" cy="2600960"/>
            </a:xfrm>
            <a:custGeom>
              <a:avLst/>
              <a:gdLst/>
              <a:ahLst/>
              <a:cxnLst/>
              <a:rect r="r" b="b" t="t" l="l"/>
              <a:pathLst>
                <a:path h="2600960" w="16906239">
                  <a:moveTo>
                    <a:pt x="0" y="0"/>
                  </a:moveTo>
                  <a:lnTo>
                    <a:pt x="16906239" y="0"/>
                  </a:lnTo>
                  <a:lnTo>
                    <a:pt x="16906239" y="2600960"/>
                  </a:lnTo>
                  <a:lnTo>
                    <a:pt x="0" y="2600960"/>
                  </a:lnTo>
                  <a:close/>
                </a:path>
              </a:pathLst>
            </a:custGeom>
            <a:solidFill>
              <a:srgbClr val="0F376E"/>
            </a:solidFill>
          </p:spPr>
        </p:sp>
      </p:grpSp>
      <p:sp>
        <p:nvSpPr>
          <p:cNvPr name="TextBox 4" id="4"/>
          <p:cNvSpPr txBox="true"/>
          <p:nvPr/>
        </p:nvSpPr>
        <p:spPr>
          <a:xfrm rot="0">
            <a:off x="871728" y="621411"/>
            <a:ext cx="8595360" cy="893445"/>
          </a:xfrm>
          <a:prstGeom prst="rect">
            <a:avLst/>
          </a:prstGeom>
        </p:spPr>
        <p:txBody>
          <a:bodyPr anchor="t" rtlCol="false" tIns="0" lIns="0" bIns="0" rIns="0">
            <a:spAutoFit/>
          </a:bodyPr>
          <a:lstStyle/>
          <a:p>
            <a:pPr algn="l">
              <a:lnSpc>
                <a:spcPts val="4608"/>
              </a:lnSpc>
            </a:pPr>
            <a:r>
              <a:rPr lang="en-US" sz="3840" b="true">
                <a:solidFill>
                  <a:srgbClr val="00C8FF"/>
                </a:solidFill>
                <a:latin typeface="Georgia Bold"/>
                <a:ea typeface="Georgia Bold"/>
                <a:cs typeface="Georgia Bold"/>
                <a:sym typeface="Georgia Bold"/>
              </a:rPr>
              <a:t>Docker Architecture</a:t>
            </a:r>
          </a:p>
        </p:txBody>
      </p:sp>
      <p:sp>
        <p:nvSpPr>
          <p:cNvPr name="TextBox 5" id="5"/>
          <p:cNvSpPr txBox="true"/>
          <p:nvPr/>
        </p:nvSpPr>
        <p:spPr>
          <a:xfrm rot="0">
            <a:off x="871728" y="1577721"/>
            <a:ext cx="8595360" cy="3448431"/>
          </a:xfrm>
          <a:prstGeom prst="rect">
            <a:avLst/>
          </a:prstGeom>
        </p:spPr>
        <p:txBody>
          <a:bodyPr anchor="t" rtlCol="false" tIns="0" lIns="0" bIns="0" rIns="0">
            <a:spAutoFit/>
          </a:bodyPr>
          <a:lstStyle/>
          <a:p>
            <a:pPr algn="l">
              <a:lnSpc>
                <a:spcPts val="1920"/>
              </a:lnSpc>
            </a:pPr>
            <a:r>
              <a:rPr lang="en-US" sz="1600">
                <a:solidFill>
                  <a:srgbClr val="FFFFFF"/>
                </a:solidFill>
                <a:latin typeface="Calibri (MS)"/>
                <a:ea typeface="Calibri (MS)"/>
                <a:cs typeface="Calibri (MS)"/>
                <a:sym typeface="Calibri (MS)"/>
              </a:rPr>
              <a:t>Docker is a containerization platform that packages applications with their dependencies into lightweight containers. Docker architecture includes the Docker Client, Docker Engine, Images, and Containers. Images are templates, while containers are running instances. Containers share the host operating system kernel but remain isolated. This improves resource efficiency compared to virtual machines. Docker ensures consistency across environments, eliminating compatibility issues. It simplifies deployment, supports microservices, and integrates seamlessly with DevOps workflows.</a:t>
            </a:r>
          </a:p>
        </p:txBody>
      </p:sp>
      <p:grpSp>
        <p:nvGrpSpPr>
          <p:cNvPr name="Group 6" id="6"/>
          <p:cNvGrpSpPr/>
          <p:nvPr/>
        </p:nvGrpSpPr>
        <p:grpSpPr>
          <a:xfrm rot="0">
            <a:off x="580139" y="4286507"/>
            <a:ext cx="1473203" cy="692915"/>
            <a:chOff x="0" y="0"/>
            <a:chExt cx="1964271" cy="923887"/>
          </a:xfrm>
        </p:grpSpPr>
        <p:sp>
          <p:nvSpPr>
            <p:cNvPr name="Freeform 7" id="7"/>
            <p:cNvSpPr/>
            <p:nvPr/>
          </p:nvSpPr>
          <p:spPr>
            <a:xfrm flipH="false" flipV="false" rot="0">
              <a:off x="6731" y="6731"/>
              <a:ext cx="1950720" cy="910463"/>
            </a:xfrm>
            <a:custGeom>
              <a:avLst/>
              <a:gdLst/>
              <a:ahLst/>
              <a:cxnLst/>
              <a:rect r="r" b="b" t="t" l="l"/>
              <a:pathLst>
                <a:path h="910463" w="1950720">
                  <a:moveTo>
                    <a:pt x="0" y="151765"/>
                  </a:moveTo>
                  <a:cubicBezTo>
                    <a:pt x="0" y="67945"/>
                    <a:pt x="68453" y="0"/>
                    <a:pt x="152908" y="0"/>
                  </a:cubicBezTo>
                  <a:lnTo>
                    <a:pt x="1797812" y="0"/>
                  </a:lnTo>
                  <a:cubicBezTo>
                    <a:pt x="1882267" y="0"/>
                    <a:pt x="1950720" y="67945"/>
                    <a:pt x="1950720" y="151765"/>
                  </a:cubicBezTo>
                  <a:lnTo>
                    <a:pt x="1950720" y="758698"/>
                  </a:lnTo>
                  <a:cubicBezTo>
                    <a:pt x="1950720" y="842518"/>
                    <a:pt x="1882267" y="910463"/>
                    <a:pt x="1797812" y="910463"/>
                  </a:cubicBezTo>
                  <a:lnTo>
                    <a:pt x="152908" y="910463"/>
                  </a:lnTo>
                  <a:cubicBezTo>
                    <a:pt x="68453" y="910336"/>
                    <a:pt x="0" y="842391"/>
                    <a:pt x="0" y="758698"/>
                  </a:cubicBezTo>
                  <a:close/>
                </a:path>
              </a:pathLst>
            </a:custGeom>
            <a:solidFill>
              <a:srgbClr val="00C8FF"/>
            </a:solidFill>
          </p:spPr>
        </p:sp>
        <p:sp>
          <p:nvSpPr>
            <p:cNvPr name="Freeform 8" id="8"/>
            <p:cNvSpPr/>
            <p:nvPr/>
          </p:nvSpPr>
          <p:spPr>
            <a:xfrm flipH="false" flipV="false" rot="0">
              <a:off x="0" y="0"/>
              <a:ext cx="1964182" cy="923925"/>
            </a:xfrm>
            <a:custGeom>
              <a:avLst/>
              <a:gdLst/>
              <a:ahLst/>
              <a:cxnLst/>
              <a:rect r="r" b="b" t="t" l="l"/>
              <a:pathLst>
                <a:path h="923925" w="1964182">
                  <a:moveTo>
                    <a:pt x="0" y="158496"/>
                  </a:moveTo>
                  <a:cubicBezTo>
                    <a:pt x="0" y="70866"/>
                    <a:pt x="71501" y="0"/>
                    <a:pt x="159639" y="0"/>
                  </a:cubicBezTo>
                  <a:lnTo>
                    <a:pt x="1804543" y="0"/>
                  </a:lnTo>
                  <a:lnTo>
                    <a:pt x="1804543" y="6731"/>
                  </a:lnTo>
                  <a:lnTo>
                    <a:pt x="1804543" y="0"/>
                  </a:lnTo>
                  <a:cubicBezTo>
                    <a:pt x="1892681" y="0"/>
                    <a:pt x="1964182" y="70866"/>
                    <a:pt x="1964182" y="158496"/>
                  </a:cubicBezTo>
                  <a:lnTo>
                    <a:pt x="1957451" y="158496"/>
                  </a:lnTo>
                  <a:lnTo>
                    <a:pt x="1964182" y="158496"/>
                  </a:lnTo>
                  <a:lnTo>
                    <a:pt x="1964182" y="765429"/>
                  </a:lnTo>
                  <a:lnTo>
                    <a:pt x="1957451" y="765429"/>
                  </a:lnTo>
                  <a:lnTo>
                    <a:pt x="1964182" y="765429"/>
                  </a:lnTo>
                  <a:cubicBezTo>
                    <a:pt x="1964182" y="853059"/>
                    <a:pt x="1892681" y="923925"/>
                    <a:pt x="1804543" y="923925"/>
                  </a:cubicBezTo>
                  <a:lnTo>
                    <a:pt x="1804543" y="917194"/>
                  </a:lnTo>
                  <a:lnTo>
                    <a:pt x="1804543" y="923925"/>
                  </a:lnTo>
                  <a:lnTo>
                    <a:pt x="159639" y="923925"/>
                  </a:lnTo>
                  <a:lnTo>
                    <a:pt x="159639" y="917194"/>
                  </a:lnTo>
                  <a:lnTo>
                    <a:pt x="159639" y="923925"/>
                  </a:lnTo>
                  <a:cubicBezTo>
                    <a:pt x="71501" y="923925"/>
                    <a:pt x="0" y="852932"/>
                    <a:pt x="0" y="765429"/>
                  </a:cubicBezTo>
                  <a:lnTo>
                    <a:pt x="0" y="158496"/>
                  </a:lnTo>
                  <a:lnTo>
                    <a:pt x="6731" y="158496"/>
                  </a:lnTo>
                  <a:lnTo>
                    <a:pt x="0" y="158496"/>
                  </a:lnTo>
                  <a:moveTo>
                    <a:pt x="13589" y="158496"/>
                  </a:moveTo>
                  <a:lnTo>
                    <a:pt x="13589" y="765429"/>
                  </a:lnTo>
                  <a:lnTo>
                    <a:pt x="6731" y="765429"/>
                  </a:lnTo>
                  <a:lnTo>
                    <a:pt x="13462" y="765429"/>
                  </a:lnTo>
                  <a:cubicBezTo>
                    <a:pt x="13462" y="845439"/>
                    <a:pt x="78867" y="910336"/>
                    <a:pt x="159639" y="910336"/>
                  </a:cubicBezTo>
                  <a:lnTo>
                    <a:pt x="1804543" y="910336"/>
                  </a:lnTo>
                  <a:cubicBezTo>
                    <a:pt x="1885315" y="910336"/>
                    <a:pt x="1950720" y="845439"/>
                    <a:pt x="1950720" y="765429"/>
                  </a:cubicBezTo>
                  <a:lnTo>
                    <a:pt x="1950720" y="158496"/>
                  </a:lnTo>
                  <a:cubicBezTo>
                    <a:pt x="1950720" y="78486"/>
                    <a:pt x="1885315" y="13589"/>
                    <a:pt x="1804543" y="13589"/>
                  </a:cubicBezTo>
                  <a:lnTo>
                    <a:pt x="159639" y="13589"/>
                  </a:lnTo>
                  <a:lnTo>
                    <a:pt x="159639" y="6731"/>
                  </a:lnTo>
                  <a:lnTo>
                    <a:pt x="159639" y="13462"/>
                  </a:lnTo>
                  <a:cubicBezTo>
                    <a:pt x="78867" y="13589"/>
                    <a:pt x="13589" y="78486"/>
                    <a:pt x="13589" y="158496"/>
                  </a:cubicBezTo>
                  <a:close/>
                </a:path>
              </a:pathLst>
            </a:custGeom>
            <a:solidFill>
              <a:srgbClr val="4A7EBB"/>
            </a:solidFill>
          </p:spPr>
        </p:sp>
        <p:sp>
          <p:nvSpPr>
            <p:cNvPr name="TextBox 9" id="9"/>
            <p:cNvSpPr txBox="true"/>
            <p:nvPr/>
          </p:nvSpPr>
          <p:spPr>
            <a:xfrm>
              <a:off x="0" y="-28575"/>
              <a:ext cx="1964271" cy="952462"/>
            </a:xfrm>
            <a:prstGeom prst="rect">
              <a:avLst/>
            </a:prstGeom>
          </p:spPr>
          <p:txBody>
            <a:bodyPr anchor="ctr" rtlCol="false" tIns="50800" lIns="50800" bIns="50800" rIns="50800"/>
            <a:lstStyle/>
            <a:p>
              <a:pPr algn="l">
                <a:lnSpc>
                  <a:spcPts val="1535"/>
                </a:lnSpc>
              </a:pPr>
              <a:r>
                <a:rPr lang="en-US" sz="1279">
                  <a:solidFill>
                    <a:srgbClr val="081428"/>
                  </a:solidFill>
                  <a:latin typeface="Calibri (MS)"/>
                  <a:ea typeface="Calibri (MS)"/>
                  <a:cs typeface="Calibri (MS)"/>
                  <a:sym typeface="Calibri (MS)"/>
                </a:rPr>
                <a:t>Client</a:t>
              </a:r>
            </a:p>
          </p:txBody>
        </p:sp>
      </p:grpSp>
      <p:grpSp>
        <p:nvGrpSpPr>
          <p:cNvPr name="Group 10" id="10"/>
          <p:cNvGrpSpPr/>
          <p:nvPr/>
        </p:nvGrpSpPr>
        <p:grpSpPr>
          <a:xfrm rot="0">
            <a:off x="2140715" y="4286507"/>
            <a:ext cx="1473203" cy="692915"/>
            <a:chOff x="0" y="0"/>
            <a:chExt cx="1964271" cy="923887"/>
          </a:xfrm>
        </p:grpSpPr>
        <p:sp>
          <p:nvSpPr>
            <p:cNvPr name="Freeform 11" id="11"/>
            <p:cNvSpPr/>
            <p:nvPr/>
          </p:nvSpPr>
          <p:spPr>
            <a:xfrm flipH="false" flipV="false" rot="0">
              <a:off x="6731" y="6731"/>
              <a:ext cx="1950720" cy="910463"/>
            </a:xfrm>
            <a:custGeom>
              <a:avLst/>
              <a:gdLst/>
              <a:ahLst/>
              <a:cxnLst/>
              <a:rect r="r" b="b" t="t" l="l"/>
              <a:pathLst>
                <a:path h="910463" w="1950720">
                  <a:moveTo>
                    <a:pt x="0" y="151765"/>
                  </a:moveTo>
                  <a:cubicBezTo>
                    <a:pt x="0" y="67945"/>
                    <a:pt x="68453" y="0"/>
                    <a:pt x="152908" y="0"/>
                  </a:cubicBezTo>
                  <a:lnTo>
                    <a:pt x="1797812" y="0"/>
                  </a:lnTo>
                  <a:cubicBezTo>
                    <a:pt x="1882267" y="0"/>
                    <a:pt x="1950720" y="67945"/>
                    <a:pt x="1950720" y="151765"/>
                  </a:cubicBezTo>
                  <a:lnTo>
                    <a:pt x="1950720" y="758698"/>
                  </a:lnTo>
                  <a:cubicBezTo>
                    <a:pt x="1950720" y="842518"/>
                    <a:pt x="1882267" y="910463"/>
                    <a:pt x="1797812" y="910463"/>
                  </a:cubicBezTo>
                  <a:lnTo>
                    <a:pt x="152908" y="910463"/>
                  </a:lnTo>
                  <a:cubicBezTo>
                    <a:pt x="68453" y="910336"/>
                    <a:pt x="0" y="842391"/>
                    <a:pt x="0" y="758698"/>
                  </a:cubicBezTo>
                  <a:close/>
                </a:path>
              </a:pathLst>
            </a:custGeom>
            <a:solidFill>
              <a:srgbClr val="00C8FF"/>
            </a:solidFill>
          </p:spPr>
        </p:sp>
        <p:sp>
          <p:nvSpPr>
            <p:cNvPr name="Freeform 12" id="12"/>
            <p:cNvSpPr/>
            <p:nvPr/>
          </p:nvSpPr>
          <p:spPr>
            <a:xfrm flipH="false" flipV="false" rot="0">
              <a:off x="0" y="0"/>
              <a:ext cx="1964182" cy="923925"/>
            </a:xfrm>
            <a:custGeom>
              <a:avLst/>
              <a:gdLst/>
              <a:ahLst/>
              <a:cxnLst/>
              <a:rect r="r" b="b" t="t" l="l"/>
              <a:pathLst>
                <a:path h="923925" w="1964182">
                  <a:moveTo>
                    <a:pt x="0" y="158496"/>
                  </a:moveTo>
                  <a:cubicBezTo>
                    <a:pt x="0" y="70866"/>
                    <a:pt x="71501" y="0"/>
                    <a:pt x="159639" y="0"/>
                  </a:cubicBezTo>
                  <a:lnTo>
                    <a:pt x="1804543" y="0"/>
                  </a:lnTo>
                  <a:lnTo>
                    <a:pt x="1804543" y="6731"/>
                  </a:lnTo>
                  <a:lnTo>
                    <a:pt x="1804543" y="0"/>
                  </a:lnTo>
                  <a:cubicBezTo>
                    <a:pt x="1892681" y="0"/>
                    <a:pt x="1964182" y="70866"/>
                    <a:pt x="1964182" y="158496"/>
                  </a:cubicBezTo>
                  <a:lnTo>
                    <a:pt x="1957451" y="158496"/>
                  </a:lnTo>
                  <a:lnTo>
                    <a:pt x="1964182" y="158496"/>
                  </a:lnTo>
                  <a:lnTo>
                    <a:pt x="1964182" y="765429"/>
                  </a:lnTo>
                  <a:lnTo>
                    <a:pt x="1957451" y="765429"/>
                  </a:lnTo>
                  <a:lnTo>
                    <a:pt x="1964182" y="765429"/>
                  </a:lnTo>
                  <a:cubicBezTo>
                    <a:pt x="1964182" y="853059"/>
                    <a:pt x="1892681" y="923925"/>
                    <a:pt x="1804543" y="923925"/>
                  </a:cubicBezTo>
                  <a:lnTo>
                    <a:pt x="1804543" y="917194"/>
                  </a:lnTo>
                  <a:lnTo>
                    <a:pt x="1804543" y="923925"/>
                  </a:lnTo>
                  <a:lnTo>
                    <a:pt x="159639" y="923925"/>
                  </a:lnTo>
                  <a:lnTo>
                    <a:pt x="159639" y="917194"/>
                  </a:lnTo>
                  <a:lnTo>
                    <a:pt x="159639" y="923925"/>
                  </a:lnTo>
                  <a:cubicBezTo>
                    <a:pt x="71501" y="923925"/>
                    <a:pt x="0" y="852932"/>
                    <a:pt x="0" y="765429"/>
                  </a:cubicBezTo>
                  <a:lnTo>
                    <a:pt x="0" y="158496"/>
                  </a:lnTo>
                  <a:lnTo>
                    <a:pt x="6731" y="158496"/>
                  </a:lnTo>
                  <a:lnTo>
                    <a:pt x="0" y="158496"/>
                  </a:lnTo>
                  <a:moveTo>
                    <a:pt x="13589" y="158496"/>
                  </a:moveTo>
                  <a:lnTo>
                    <a:pt x="13589" y="765429"/>
                  </a:lnTo>
                  <a:lnTo>
                    <a:pt x="6731" y="765429"/>
                  </a:lnTo>
                  <a:lnTo>
                    <a:pt x="13462" y="765429"/>
                  </a:lnTo>
                  <a:cubicBezTo>
                    <a:pt x="13462" y="845439"/>
                    <a:pt x="78867" y="910336"/>
                    <a:pt x="159639" y="910336"/>
                  </a:cubicBezTo>
                  <a:lnTo>
                    <a:pt x="1804543" y="910336"/>
                  </a:lnTo>
                  <a:cubicBezTo>
                    <a:pt x="1885315" y="910336"/>
                    <a:pt x="1950720" y="845439"/>
                    <a:pt x="1950720" y="765429"/>
                  </a:cubicBezTo>
                  <a:lnTo>
                    <a:pt x="1950720" y="158496"/>
                  </a:lnTo>
                  <a:cubicBezTo>
                    <a:pt x="1950720" y="78486"/>
                    <a:pt x="1885315" y="13589"/>
                    <a:pt x="1804543" y="13589"/>
                  </a:cubicBezTo>
                  <a:lnTo>
                    <a:pt x="159639" y="13589"/>
                  </a:lnTo>
                  <a:lnTo>
                    <a:pt x="159639" y="6731"/>
                  </a:lnTo>
                  <a:lnTo>
                    <a:pt x="159639" y="13462"/>
                  </a:lnTo>
                  <a:cubicBezTo>
                    <a:pt x="78867" y="13589"/>
                    <a:pt x="13589" y="78486"/>
                    <a:pt x="13589" y="158496"/>
                  </a:cubicBezTo>
                  <a:close/>
                </a:path>
              </a:pathLst>
            </a:custGeom>
            <a:solidFill>
              <a:srgbClr val="4A7EBB"/>
            </a:solidFill>
          </p:spPr>
        </p:sp>
        <p:sp>
          <p:nvSpPr>
            <p:cNvPr name="TextBox 13" id="13"/>
            <p:cNvSpPr txBox="true"/>
            <p:nvPr/>
          </p:nvSpPr>
          <p:spPr>
            <a:xfrm>
              <a:off x="0" y="-28575"/>
              <a:ext cx="1964271" cy="952462"/>
            </a:xfrm>
            <a:prstGeom prst="rect">
              <a:avLst/>
            </a:prstGeom>
          </p:spPr>
          <p:txBody>
            <a:bodyPr anchor="ctr" rtlCol="false" tIns="50800" lIns="50800" bIns="50800" rIns="50800"/>
            <a:lstStyle/>
            <a:p>
              <a:pPr algn="l">
                <a:lnSpc>
                  <a:spcPts val="1535"/>
                </a:lnSpc>
              </a:pPr>
              <a:r>
                <a:rPr lang="en-US" sz="1279">
                  <a:solidFill>
                    <a:srgbClr val="081428"/>
                  </a:solidFill>
                  <a:latin typeface="Calibri (MS)"/>
                  <a:ea typeface="Calibri (MS)"/>
                  <a:cs typeface="Calibri (MS)"/>
                  <a:sym typeface="Calibri (MS)"/>
                </a:rPr>
                <a:t>Engine</a:t>
              </a:r>
            </a:p>
          </p:txBody>
        </p:sp>
      </p:grpSp>
      <p:grpSp>
        <p:nvGrpSpPr>
          <p:cNvPr name="Group 14" id="14"/>
          <p:cNvGrpSpPr/>
          <p:nvPr/>
        </p:nvGrpSpPr>
        <p:grpSpPr>
          <a:xfrm rot="0">
            <a:off x="3701291" y="4286507"/>
            <a:ext cx="1473203" cy="692915"/>
            <a:chOff x="0" y="0"/>
            <a:chExt cx="1964271" cy="923887"/>
          </a:xfrm>
        </p:grpSpPr>
        <p:sp>
          <p:nvSpPr>
            <p:cNvPr name="Freeform 15" id="15"/>
            <p:cNvSpPr/>
            <p:nvPr/>
          </p:nvSpPr>
          <p:spPr>
            <a:xfrm flipH="false" flipV="false" rot="0">
              <a:off x="6731" y="6731"/>
              <a:ext cx="1950720" cy="910463"/>
            </a:xfrm>
            <a:custGeom>
              <a:avLst/>
              <a:gdLst/>
              <a:ahLst/>
              <a:cxnLst/>
              <a:rect r="r" b="b" t="t" l="l"/>
              <a:pathLst>
                <a:path h="910463" w="1950720">
                  <a:moveTo>
                    <a:pt x="0" y="151765"/>
                  </a:moveTo>
                  <a:cubicBezTo>
                    <a:pt x="0" y="67945"/>
                    <a:pt x="68453" y="0"/>
                    <a:pt x="152908" y="0"/>
                  </a:cubicBezTo>
                  <a:lnTo>
                    <a:pt x="1797812" y="0"/>
                  </a:lnTo>
                  <a:cubicBezTo>
                    <a:pt x="1882267" y="0"/>
                    <a:pt x="1950720" y="67945"/>
                    <a:pt x="1950720" y="151765"/>
                  </a:cubicBezTo>
                  <a:lnTo>
                    <a:pt x="1950720" y="758698"/>
                  </a:lnTo>
                  <a:cubicBezTo>
                    <a:pt x="1950720" y="842518"/>
                    <a:pt x="1882267" y="910463"/>
                    <a:pt x="1797812" y="910463"/>
                  </a:cubicBezTo>
                  <a:lnTo>
                    <a:pt x="152908" y="910463"/>
                  </a:lnTo>
                  <a:cubicBezTo>
                    <a:pt x="68453" y="910336"/>
                    <a:pt x="0" y="842391"/>
                    <a:pt x="0" y="758698"/>
                  </a:cubicBezTo>
                  <a:close/>
                </a:path>
              </a:pathLst>
            </a:custGeom>
            <a:solidFill>
              <a:srgbClr val="00C8FF"/>
            </a:solidFill>
          </p:spPr>
        </p:sp>
        <p:sp>
          <p:nvSpPr>
            <p:cNvPr name="Freeform 16" id="16"/>
            <p:cNvSpPr/>
            <p:nvPr/>
          </p:nvSpPr>
          <p:spPr>
            <a:xfrm flipH="false" flipV="false" rot="0">
              <a:off x="0" y="0"/>
              <a:ext cx="1964182" cy="923925"/>
            </a:xfrm>
            <a:custGeom>
              <a:avLst/>
              <a:gdLst/>
              <a:ahLst/>
              <a:cxnLst/>
              <a:rect r="r" b="b" t="t" l="l"/>
              <a:pathLst>
                <a:path h="923925" w="1964182">
                  <a:moveTo>
                    <a:pt x="0" y="158496"/>
                  </a:moveTo>
                  <a:cubicBezTo>
                    <a:pt x="0" y="70866"/>
                    <a:pt x="71501" y="0"/>
                    <a:pt x="159639" y="0"/>
                  </a:cubicBezTo>
                  <a:lnTo>
                    <a:pt x="1804543" y="0"/>
                  </a:lnTo>
                  <a:lnTo>
                    <a:pt x="1804543" y="6731"/>
                  </a:lnTo>
                  <a:lnTo>
                    <a:pt x="1804543" y="0"/>
                  </a:lnTo>
                  <a:cubicBezTo>
                    <a:pt x="1892681" y="0"/>
                    <a:pt x="1964182" y="70866"/>
                    <a:pt x="1964182" y="158496"/>
                  </a:cubicBezTo>
                  <a:lnTo>
                    <a:pt x="1957451" y="158496"/>
                  </a:lnTo>
                  <a:lnTo>
                    <a:pt x="1964182" y="158496"/>
                  </a:lnTo>
                  <a:lnTo>
                    <a:pt x="1964182" y="765429"/>
                  </a:lnTo>
                  <a:lnTo>
                    <a:pt x="1957451" y="765429"/>
                  </a:lnTo>
                  <a:lnTo>
                    <a:pt x="1964182" y="765429"/>
                  </a:lnTo>
                  <a:cubicBezTo>
                    <a:pt x="1964182" y="853059"/>
                    <a:pt x="1892681" y="923925"/>
                    <a:pt x="1804543" y="923925"/>
                  </a:cubicBezTo>
                  <a:lnTo>
                    <a:pt x="1804543" y="917194"/>
                  </a:lnTo>
                  <a:lnTo>
                    <a:pt x="1804543" y="923925"/>
                  </a:lnTo>
                  <a:lnTo>
                    <a:pt x="159639" y="923925"/>
                  </a:lnTo>
                  <a:lnTo>
                    <a:pt x="159639" y="917194"/>
                  </a:lnTo>
                  <a:lnTo>
                    <a:pt x="159639" y="923925"/>
                  </a:lnTo>
                  <a:cubicBezTo>
                    <a:pt x="71501" y="923925"/>
                    <a:pt x="0" y="852932"/>
                    <a:pt x="0" y="765429"/>
                  </a:cubicBezTo>
                  <a:lnTo>
                    <a:pt x="0" y="158496"/>
                  </a:lnTo>
                  <a:lnTo>
                    <a:pt x="6731" y="158496"/>
                  </a:lnTo>
                  <a:lnTo>
                    <a:pt x="0" y="158496"/>
                  </a:lnTo>
                  <a:moveTo>
                    <a:pt x="13589" y="158496"/>
                  </a:moveTo>
                  <a:lnTo>
                    <a:pt x="13589" y="765429"/>
                  </a:lnTo>
                  <a:lnTo>
                    <a:pt x="6731" y="765429"/>
                  </a:lnTo>
                  <a:lnTo>
                    <a:pt x="13462" y="765429"/>
                  </a:lnTo>
                  <a:cubicBezTo>
                    <a:pt x="13462" y="845439"/>
                    <a:pt x="78867" y="910336"/>
                    <a:pt x="159639" y="910336"/>
                  </a:cubicBezTo>
                  <a:lnTo>
                    <a:pt x="1804543" y="910336"/>
                  </a:lnTo>
                  <a:cubicBezTo>
                    <a:pt x="1885315" y="910336"/>
                    <a:pt x="1950720" y="845439"/>
                    <a:pt x="1950720" y="765429"/>
                  </a:cubicBezTo>
                  <a:lnTo>
                    <a:pt x="1950720" y="158496"/>
                  </a:lnTo>
                  <a:cubicBezTo>
                    <a:pt x="1950720" y="78486"/>
                    <a:pt x="1885315" y="13589"/>
                    <a:pt x="1804543" y="13589"/>
                  </a:cubicBezTo>
                  <a:lnTo>
                    <a:pt x="159639" y="13589"/>
                  </a:lnTo>
                  <a:lnTo>
                    <a:pt x="159639" y="6731"/>
                  </a:lnTo>
                  <a:lnTo>
                    <a:pt x="159639" y="13462"/>
                  </a:lnTo>
                  <a:cubicBezTo>
                    <a:pt x="78867" y="13589"/>
                    <a:pt x="13589" y="78486"/>
                    <a:pt x="13589" y="158496"/>
                  </a:cubicBezTo>
                  <a:close/>
                </a:path>
              </a:pathLst>
            </a:custGeom>
            <a:solidFill>
              <a:srgbClr val="4A7EBB"/>
            </a:solidFill>
          </p:spPr>
        </p:sp>
        <p:sp>
          <p:nvSpPr>
            <p:cNvPr name="TextBox 17" id="17"/>
            <p:cNvSpPr txBox="true"/>
            <p:nvPr/>
          </p:nvSpPr>
          <p:spPr>
            <a:xfrm>
              <a:off x="0" y="-28575"/>
              <a:ext cx="1964271" cy="952462"/>
            </a:xfrm>
            <a:prstGeom prst="rect">
              <a:avLst/>
            </a:prstGeom>
          </p:spPr>
          <p:txBody>
            <a:bodyPr anchor="ctr" rtlCol="false" tIns="50800" lIns="50800" bIns="50800" rIns="50800"/>
            <a:lstStyle/>
            <a:p>
              <a:pPr algn="l">
                <a:lnSpc>
                  <a:spcPts val="1535"/>
                </a:lnSpc>
              </a:pPr>
              <a:r>
                <a:rPr lang="en-US" sz="1279">
                  <a:solidFill>
                    <a:srgbClr val="081428"/>
                  </a:solidFill>
                  <a:latin typeface="Calibri (MS)"/>
                  <a:ea typeface="Calibri (MS)"/>
                  <a:cs typeface="Calibri (MS)"/>
                  <a:sym typeface="Calibri (MS)"/>
                </a:rPr>
                <a:t>Image</a:t>
              </a:r>
            </a:p>
          </p:txBody>
        </p:sp>
      </p:grpSp>
      <p:grpSp>
        <p:nvGrpSpPr>
          <p:cNvPr name="Group 18" id="18"/>
          <p:cNvGrpSpPr/>
          <p:nvPr/>
        </p:nvGrpSpPr>
        <p:grpSpPr>
          <a:xfrm rot="0">
            <a:off x="5261867" y="4286507"/>
            <a:ext cx="1473203" cy="692915"/>
            <a:chOff x="0" y="0"/>
            <a:chExt cx="1964271" cy="923887"/>
          </a:xfrm>
        </p:grpSpPr>
        <p:sp>
          <p:nvSpPr>
            <p:cNvPr name="Freeform 19" id="19"/>
            <p:cNvSpPr/>
            <p:nvPr/>
          </p:nvSpPr>
          <p:spPr>
            <a:xfrm flipH="false" flipV="false" rot="0">
              <a:off x="6731" y="6731"/>
              <a:ext cx="1950720" cy="910463"/>
            </a:xfrm>
            <a:custGeom>
              <a:avLst/>
              <a:gdLst/>
              <a:ahLst/>
              <a:cxnLst/>
              <a:rect r="r" b="b" t="t" l="l"/>
              <a:pathLst>
                <a:path h="910463" w="1950720">
                  <a:moveTo>
                    <a:pt x="0" y="151765"/>
                  </a:moveTo>
                  <a:cubicBezTo>
                    <a:pt x="0" y="67945"/>
                    <a:pt x="68453" y="0"/>
                    <a:pt x="152908" y="0"/>
                  </a:cubicBezTo>
                  <a:lnTo>
                    <a:pt x="1797812" y="0"/>
                  </a:lnTo>
                  <a:cubicBezTo>
                    <a:pt x="1882267" y="0"/>
                    <a:pt x="1950720" y="67945"/>
                    <a:pt x="1950720" y="151765"/>
                  </a:cubicBezTo>
                  <a:lnTo>
                    <a:pt x="1950720" y="758698"/>
                  </a:lnTo>
                  <a:cubicBezTo>
                    <a:pt x="1950720" y="842518"/>
                    <a:pt x="1882267" y="910463"/>
                    <a:pt x="1797812" y="910463"/>
                  </a:cubicBezTo>
                  <a:lnTo>
                    <a:pt x="152908" y="910463"/>
                  </a:lnTo>
                  <a:cubicBezTo>
                    <a:pt x="68453" y="910336"/>
                    <a:pt x="0" y="842391"/>
                    <a:pt x="0" y="758698"/>
                  </a:cubicBezTo>
                  <a:close/>
                </a:path>
              </a:pathLst>
            </a:custGeom>
            <a:solidFill>
              <a:srgbClr val="00C8FF"/>
            </a:solidFill>
          </p:spPr>
        </p:sp>
        <p:sp>
          <p:nvSpPr>
            <p:cNvPr name="Freeform 20" id="20"/>
            <p:cNvSpPr/>
            <p:nvPr/>
          </p:nvSpPr>
          <p:spPr>
            <a:xfrm flipH="false" flipV="false" rot="0">
              <a:off x="0" y="0"/>
              <a:ext cx="1964182" cy="923925"/>
            </a:xfrm>
            <a:custGeom>
              <a:avLst/>
              <a:gdLst/>
              <a:ahLst/>
              <a:cxnLst/>
              <a:rect r="r" b="b" t="t" l="l"/>
              <a:pathLst>
                <a:path h="923925" w="1964182">
                  <a:moveTo>
                    <a:pt x="0" y="158496"/>
                  </a:moveTo>
                  <a:cubicBezTo>
                    <a:pt x="0" y="70866"/>
                    <a:pt x="71501" y="0"/>
                    <a:pt x="159639" y="0"/>
                  </a:cubicBezTo>
                  <a:lnTo>
                    <a:pt x="1804543" y="0"/>
                  </a:lnTo>
                  <a:lnTo>
                    <a:pt x="1804543" y="6731"/>
                  </a:lnTo>
                  <a:lnTo>
                    <a:pt x="1804543" y="0"/>
                  </a:lnTo>
                  <a:cubicBezTo>
                    <a:pt x="1892681" y="0"/>
                    <a:pt x="1964182" y="70866"/>
                    <a:pt x="1964182" y="158496"/>
                  </a:cubicBezTo>
                  <a:lnTo>
                    <a:pt x="1957451" y="158496"/>
                  </a:lnTo>
                  <a:lnTo>
                    <a:pt x="1964182" y="158496"/>
                  </a:lnTo>
                  <a:lnTo>
                    <a:pt x="1964182" y="765429"/>
                  </a:lnTo>
                  <a:lnTo>
                    <a:pt x="1957451" y="765429"/>
                  </a:lnTo>
                  <a:lnTo>
                    <a:pt x="1964182" y="765429"/>
                  </a:lnTo>
                  <a:cubicBezTo>
                    <a:pt x="1964182" y="853059"/>
                    <a:pt x="1892681" y="923925"/>
                    <a:pt x="1804543" y="923925"/>
                  </a:cubicBezTo>
                  <a:lnTo>
                    <a:pt x="1804543" y="917194"/>
                  </a:lnTo>
                  <a:lnTo>
                    <a:pt x="1804543" y="923925"/>
                  </a:lnTo>
                  <a:lnTo>
                    <a:pt x="159639" y="923925"/>
                  </a:lnTo>
                  <a:lnTo>
                    <a:pt x="159639" y="917194"/>
                  </a:lnTo>
                  <a:lnTo>
                    <a:pt x="159639" y="923925"/>
                  </a:lnTo>
                  <a:cubicBezTo>
                    <a:pt x="71501" y="923925"/>
                    <a:pt x="0" y="852932"/>
                    <a:pt x="0" y="765429"/>
                  </a:cubicBezTo>
                  <a:lnTo>
                    <a:pt x="0" y="158496"/>
                  </a:lnTo>
                  <a:lnTo>
                    <a:pt x="6731" y="158496"/>
                  </a:lnTo>
                  <a:lnTo>
                    <a:pt x="0" y="158496"/>
                  </a:lnTo>
                  <a:moveTo>
                    <a:pt x="13589" y="158496"/>
                  </a:moveTo>
                  <a:lnTo>
                    <a:pt x="13589" y="765429"/>
                  </a:lnTo>
                  <a:lnTo>
                    <a:pt x="6731" y="765429"/>
                  </a:lnTo>
                  <a:lnTo>
                    <a:pt x="13462" y="765429"/>
                  </a:lnTo>
                  <a:cubicBezTo>
                    <a:pt x="13462" y="845439"/>
                    <a:pt x="78867" y="910336"/>
                    <a:pt x="159639" y="910336"/>
                  </a:cubicBezTo>
                  <a:lnTo>
                    <a:pt x="1804543" y="910336"/>
                  </a:lnTo>
                  <a:cubicBezTo>
                    <a:pt x="1885315" y="910336"/>
                    <a:pt x="1950720" y="845439"/>
                    <a:pt x="1950720" y="765429"/>
                  </a:cubicBezTo>
                  <a:lnTo>
                    <a:pt x="1950720" y="158496"/>
                  </a:lnTo>
                  <a:cubicBezTo>
                    <a:pt x="1950720" y="78486"/>
                    <a:pt x="1885315" y="13589"/>
                    <a:pt x="1804543" y="13589"/>
                  </a:cubicBezTo>
                  <a:lnTo>
                    <a:pt x="159639" y="13589"/>
                  </a:lnTo>
                  <a:lnTo>
                    <a:pt x="159639" y="6731"/>
                  </a:lnTo>
                  <a:lnTo>
                    <a:pt x="159639" y="13462"/>
                  </a:lnTo>
                  <a:cubicBezTo>
                    <a:pt x="78867" y="13589"/>
                    <a:pt x="13589" y="78486"/>
                    <a:pt x="13589" y="158496"/>
                  </a:cubicBezTo>
                  <a:close/>
                </a:path>
              </a:pathLst>
            </a:custGeom>
            <a:solidFill>
              <a:srgbClr val="4A7EBB"/>
            </a:solidFill>
          </p:spPr>
        </p:sp>
        <p:sp>
          <p:nvSpPr>
            <p:cNvPr name="TextBox 21" id="21"/>
            <p:cNvSpPr txBox="true"/>
            <p:nvPr/>
          </p:nvSpPr>
          <p:spPr>
            <a:xfrm>
              <a:off x="0" y="-28575"/>
              <a:ext cx="1964271" cy="952462"/>
            </a:xfrm>
            <a:prstGeom prst="rect">
              <a:avLst/>
            </a:prstGeom>
          </p:spPr>
          <p:txBody>
            <a:bodyPr anchor="ctr" rtlCol="false" tIns="50800" lIns="50800" bIns="50800" rIns="50800"/>
            <a:lstStyle/>
            <a:p>
              <a:pPr algn="l">
                <a:lnSpc>
                  <a:spcPts val="1535"/>
                </a:lnSpc>
              </a:pPr>
              <a:r>
                <a:rPr lang="en-US" sz="1279">
                  <a:solidFill>
                    <a:srgbClr val="081428"/>
                  </a:solidFill>
                  <a:latin typeface="Calibri (MS)"/>
                  <a:ea typeface="Calibri (MS)"/>
                  <a:cs typeface="Calibri (MS)"/>
                  <a:sym typeface="Calibri (MS)"/>
                </a:rPr>
                <a:t>Container</a:t>
              </a:r>
            </a:p>
          </p:txBody>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081428"/>
        </a:solidFill>
      </p:bgPr>
    </p:bg>
    <p:spTree>
      <p:nvGrpSpPr>
        <p:cNvPr id="1" name=""/>
        <p:cNvGrpSpPr/>
        <p:nvPr/>
      </p:nvGrpSpPr>
      <p:grpSpPr>
        <a:xfrm>
          <a:off x="0" y="0"/>
          <a:ext cx="0" cy="0"/>
          <a:chOff x="0" y="0"/>
          <a:chExt cx="0" cy="0"/>
        </a:xfrm>
      </p:grpSpPr>
      <p:grpSp>
        <p:nvGrpSpPr>
          <p:cNvPr name="Group 2" id="2"/>
          <p:cNvGrpSpPr/>
          <p:nvPr/>
        </p:nvGrpSpPr>
        <p:grpSpPr>
          <a:xfrm rot="0">
            <a:off x="0" y="4389120"/>
            <a:ext cx="12679680" cy="1950720"/>
            <a:chOff x="0" y="0"/>
            <a:chExt cx="16906240" cy="2600960"/>
          </a:xfrm>
        </p:grpSpPr>
        <p:sp>
          <p:nvSpPr>
            <p:cNvPr name="Freeform 3" id="3"/>
            <p:cNvSpPr/>
            <p:nvPr/>
          </p:nvSpPr>
          <p:spPr>
            <a:xfrm flipH="false" flipV="false" rot="0">
              <a:off x="0" y="0"/>
              <a:ext cx="16906239" cy="2600960"/>
            </a:xfrm>
            <a:custGeom>
              <a:avLst/>
              <a:gdLst/>
              <a:ahLst/>
              <a:cxnLst/>
              <a:rect r="r" b="b" t="t" l="l"/>
              <a:pathLst>
                <a:path h="2600960" w="16906239">
                  <a:moveTo>
                    <a:pt x="0" y="0"/>
                  </a:moveTo>
                  <a:lnTo>
                    <a:pt x="16906239" y="0"/>
                  </a:lnTo>
                  <a:lnTo>
                    <a:pt x="16906239" y="2600960"/>
                  </a:lnTo>
                  <a:lnTo>
                    <a:pt x="0" y="2600960"/>
                  </a:lnTo>
                  <a:close/>
                </a:path>
              </a:pathLst>
            </a:custGeom>
            <a:solidFill>
              <a:srgbClr val="0F376E"/>
            </a:solidFill>
          </p:spPr>
        </p:sp>
      </p:grpSp>
      <p:sp>
        <p:nvSpPr>
          <p:cNvPr name="TextBox 4" id="4"/>
          <p:cNvSpPr txBox="true"/>
          <p:nvPr/>
        </p:nvSpPr>
        <p:spPr>
          <a:xfrm rot="0">
            <a:off x="871728" y="621411"/>
            <a:ext cx="8595360" cy="893445"/>
          </a:xfrm>
          <a:prstGeom prst="rect">
            <a:avLst/>
          </a:prstGeom>
        </p:spPr>
        <p:txBody>
          <a:bodyPr anchor="t" rtlCol="false" tIns="0" lIns="0" bIns="0" rIns="0">
            <a:spAutoFit/>
          </a:bodyPr>
          <a:lstStyle/>
          <a:p>
            <a:pPr algn="l">
              <a:lnSpc>
                <a:spcPts val="4608"/>
              </a:lnSpc>
            </a:pPr>
            <a:r>
              <a:rPr lang="en-US" sz="3840" b="true">
                <a:solidFill>
                  <a:srgbClr val="00C8FF"/>
                </a:solidFill>
                <a:latin typeface="Georgia Bold"/>
                <a:ea typeface="Georgia Bold"/>
                <a:cs typeface="Georgia Bold"/>
                <a:sym typeface="Georgia Bold"/>
              </a:rPr>
              <a:t>Docker Offline Installation</a:t>
            </a:r>
          </a:p>
        </p:txBody>
      </p:sp>
      <p:sp>
        <p:nvSpPr>
          <p:cNvPr name="TextBox 5" id="5"/>
          <p:cNvSpPr txBox="true"/>
          <p:nvPr/>
        </p:nvSpPr>
        <p:spPr>
          <a:xfrm rot="0">
            <a:off x="871728" y="1577721"/>
            <a:ext cx="8595360" cy="3448431"/>
          </a:xfrm>
          <a:prstGeom prst="rect">
            <a:avLst/>
          </a:prstGeom>
        </p:spPr>
        <p:txBody>
          <a:bodyPr anchor="t" rtlCol="false" tIns="0" lIns="0" bIns="0" rIns="0">
            <a:spAutoFit/>
          </a:bodyPr>
          <a:lstStyle/>
          <a:p>
            <a:pPr algn="l">
              <a:lnSpc>
                <a:spcPts val="1920"/>
              </a:lnSpc>
            </a:pPr>
            <a:r>
              <a:rPr lang="en-US" sz="1600">
                <a:solidFill>
                  <a:srgbClr val="FFFFFF"/>
                </a:solidFill>
                <a:latin typeface="Calibri (MS)"/>
                <a:ea typeface="Calibri (MS)"/>
                <a:cs typeface="Calibri (MS)"/>
                <a:sym typeface="Calibri (MS)"/>
              </a:rPr>
              <a:t>Offline Docker installation required downloading binaries and dependency packages from an internet-enabled system and transferring them securely to an isolated environment. Manual dependency configuration and daemon setup were performed. This process improved understanding of system-level configuration, environment variables, and service management. Verification commands ensured successful installation. Troubleshooting included resolving missing libraries and path configuration errors. This hands-on approach strengthened system administration and deployment knowledge.</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081428"/>
        </a:solidFill>
      </p:bgPr>
    </p:bg>
    <p:spTree>
      <p:nvGrpSpPr>
        <p:cNvPr id="1" name=""/>
        <p:cNvGrpSpPr/>
        <p:nvPr/>
      </p:nvGrpSpPr>
      <p:grpSpPr>
        <a:xfrm>
          <a:off x="0" y="0"/>
          <a:ext cx="0" cy="0"/>
          <a:chOff x="0" y="0"/>
          <a:chExt cx="0" cy="0"/>
        </a:xfrm>
      </p:grpSpPr>
      <p:grpSp>
        <p:nvGrpSpPr>
          <p:cNvPr name="Group 2" id="2"/>
          <p:cNvGrpSpPr/>
          <p:nvPr/>
        </p:nvGrpSpPr>
        <p:grpSpPr>
          <a:xfrm rot="0">
            <a:off x="0" y="4389120"/>
            <a:ext cx="12679680" cy="1950720"/>
            <a:chOff x="0" y="0"/>
            <a:chExt cx="16906240" cy="2600960"/>
          </a:xfrm>
        </p:grpSpPr>
        <p:sp>
          <p:nvSpPr>
            <p:cNvPr name="Freeform 3" id="3"/>
            <p:cNvSpPr/>
            <p:nvPr/>
          </p:nvSpPr>
          <p:spPr>
            <a:xfrm flipH="false" flipV="false" rot="0">
              <a:off x="0" y="0"/>
              <a:ext cx="16906239" cy="2600960"/>
            </a:xfrm>
            <a:custGeom>
              <a:avLst/>
              <a:gdLst/>
              <a:ahLst/>
              <a:cxnLst/>
              <a:rect r="r" b="b" t="t" l="l"/>
              <a:pathLst>
                <a:path h="2600960" w="16906239">
                  <a:moveTo>
                    <a:pt x="0" y="0"/>
                  </a:moveTo>
                  <a:lnTo>
                    <a:pt x="16906239" y="0"/>
                  </a:lnTo>
                  <a:lnTo>
                    <a:pt x="16906239" y="2600960"/>
                  </a:lnTo>
                  <a:lnTo>
                    <a:pt x="0" y="2600960"/>
                  </a:lnTo>
                  <a:close/>
                </a:path>
              </a:pathLst>
            </a:custGeom>
            <a:solidFill>
              <a:srgbClr val="0F376E"/>
            </a:solidFill>
          </p:spPr>
        </p:sp>
      </p:grpSp>
      <p:sp>
        <p:nvSpPr>
          <p:cNvPr name="TextBox 4" id="4"/>
          <p:cNvSpPr txBox="true"/>
          <p:nvPr/>
        </p:nvSpPr>
        <p:spPr>
          <a:xfrm rot="0">
            <a:off x="871728" y="621411"/>
            <a:ext cx="8595360" cy="893445"/>
          </a:xfrm>
          <a:prstGeom prst="rect">
            <a:avLst/>
          </a:prstGeom>
        </p:spPr>
        <p:txBody>
          <a:bodyPr anchor="t" rtlCol="false" tIns="0" lIns="0" bIns="0" rIns="0">
            <a:spAutoFit/>
          </a:bodyPr>
          <a:lstStyle/>
          <a:p>
            <a:pPr algn="l">
              <a:lnSpc>
                <a:spcPts val="4608"/>
              </a:lnSpc>
            </a:pPr>
            <a:r>
              <a:rPr lang="en-US" sz="3840" b="true">
                <a:solidFill>
                  <a:srgbClr val="00C8FF"/>
                </a:solidFill>
                <a:latin typeface="Georgia Bold"/>
                <a:ea typeface="Georgia Bold"/>
                <a:cs typeface="Georgia Bold"/>
                <a:sym typeface="Georgia Bold"/>
              </a:rPr>
              <a:t>Microservices Architecture</a:t>
            </a:r>
          </a:p>
        </p:txBody>
      </p:sp>
      <p:sp>
        <p:nvSpPr>
          <p:cNvPr name="TextBox 5" id="5"/>
          <p:cNvSpPr txBox="true"/>
          <p:nvPr/>
        </p:nvSpPr>
        <p:spPr>
          <a:xfrm rot="0">
            <a:off x="871728" y="1577721"/>
            <a:ext cx="8595360" cy="3448431"/>
          </a:xfrm>
          <a:prstGeom prst="rect">
            <a:avLst/>
          </a:prstGeom>
        </p:spPr>
        <p:txBody>
          <a:bodyPr anchor="t" rtlCol="false" tIns="0" lIns="0" bIns="0" rIns="0">
            <a:spAutoFit/>
          </a:bodyPr>
          <a:lstStyle/>
          <a:p>
            <a:pPr algn="l">
              <a:lnSpc>
                <a:spcPts val="1920"/>
              </a:lnSpc>
            </a:pPr>
            <a:r>
              <a:rPr lang="en-US" sz="1600">
                <a:solidFill>
                  <a:srgbClr val="FFFFFF"/>
                </a:solidFill>
                <a:latin typeface="Calibri (MS)"/>
                <a:ea typeface="Calibri (MS)"/>
                <a:cs typeface="Calibri (MS)"/>
                <a:sym typeface="Calibri (MS)"/>
              </a:rPr>
              <a:t>Microservices architecture divides applications into independent services that communicate through APIs. Each service focuses on a specific business function and can be deployed separately. Unlike monolithic systems, microservices improve scalability, flexibility, and maintainability. Services can use different technologies based on requirements. Fault isolation enhances reliability, and scaling can be performed independently. Microservices are widely adopted in cloud-native systems due to modular design and resilience.</a:t>
            </a:r>
          </a:p>
        </p:txBody>
      </p:sp>
      <p:grpSp>
        <p:nvGrpSpPr>
          <p:cNvPr name="Group 6" id="6"/>
          <p:cNvGrpSpPr/>
          <p:nvPr/>
        </p:nvGrpSpPr>
        <p:grpSpPr>
          <a:xfrm rot="0">
            <a:off x="580139" y="4286507"/>
            <a:ext cx="1473203" cy="692915"/>
            <a:chOff x="0" y="0"/>
            <a:chExt cx="1964271" cy="923887"/>
          </a:xfrm>
        </p:grpSpPr>
        <p:sp>
          <p:nvSpPr>
            <p:cNvPr name="Freeform 7" id="7"/>
            <p:cNvSpPr/>
            <p:nvPr/>
          </p:nvSpPr>
          <p:spPr>
            <a:xfrm flipH="false" flipV="false" rot="0">
              <a:off x="6731" y="6731"/>
              <a:ext cx="1950720" cy="910463"/>
            </a:xfrm>
            <a:custGeom>
              <a:avLst/>
              <a:gdLst/>
              <a:ahLst/>
              <a:cxnLst/>
              <a:rect r="r" b="b" t="t" l="l"/>
              <a:pathLst>
                <a:path h="910463" w="1950720">
                  <a:moveTo>
                    <a:pt x="0" y="151765"/>
                  </a:moveTo>
                  <a:cubicBezTo>
                    <a:pt x="0" y="67945"/>
                    <a:pt x="68453" y="0"/>
                    <a:pt x="152908" y="0"/>
                  </a:cubicBezTo>
                  <a:lnTo>
                    <a:pt x="1797812" y="0"/>
                  </a:lnTo>
                  <a:cubicBezTo>
                    <a:pt x="1882267" y="0"/>
                    <a:pt x="1950720" y="67945"/>
                    <a:pt x="1950720" y="151765"/>
                  </a:cubicBezTo>
                  <a:lnTo>
                    <a:pt x="1950720" y="758698"/>
                  </a:lnTo>
                  <a:cubicBezTo>
                    <a:pt x="1950720" y="842518"/>
                    <a:pt x="1882267" y="910463"/>
                    <a:pt x="1797812" y="910463"/>
                  </a:cubicBezTo>
                  <a:lnTo>
                    <a:pt x="152908" y="910463"/>
                  </a:lnTo>
                  <a:cubicBezTo>
                    <a:pt x="68453" y="910336"/>
                    <a:pt x="0" y="842391"/>
                    <a:pt x="0" y="758698"/>
                  </a:cubicBezTo>
                  <a:close/>
                </a:path>
              </a:pathLst>
            </a:custGeom>
            <a:solidFill>
              <a:srgbClr val="00C8FF"/>
            </a:solidFill>
          </p:spPr>
        </p:sp>
        <p:sp>
          <p:nvSpPr>
            <p:cNvPr name="Freeform 8" id="8"/>
            <p:cNvSpPr/>
            <p:nvPr/>
          </p:nvSpPr>
          <p:spPr>
            <a:xfrm flipH="false" flipV="false" rot="0">
              <a:off x="0" y="0"/>
              <a:ext cx="1964182" cy="923925"/>
            </a:xfrm>
            <a:custGeom>
              <a:avLst/>
              <a:gdLst/>
              <a:ahLst/>
              <a:cxnLst/>
              <a:rect r="r" b="b" t="t" l="l"/>
              <a:pathLst>
                <a:path h="923925" w="1964182">
                  <a:moveTo>
                    <a:pt x="0" y="158496"/>
                  </a:moveTo>
                  <a:cubicBezTo>
                    <a:pt x="0" y="70866"/>
                    <a:pt x="71501" y="0"/>
                    <a:pt x="159639" y="0"/>
                  </a:cubicBezTo>
                  <a:lnTo>
                    <a:pt x="1804543" y="0"/>
                  </a:lnTo>
                  <a:lnTo>
                    <a:pt x="1804543" y="6731"/>
                  </a:lnTo>
                  <a:lnTo>
                    <a:pt x="1804543" y="0"/>
                  </a:lnTo>
                  <a:cubicBezTo>
                    <a:pt x="1892681" y="0"/>
                    <a:pt x="1964182" y="70866"/>
                    <a:pt x="1964182" y="158496"/>
                  </a:cubicBezTo>
                  <a:lnTo>
                    <a:pt x="1957451" y="158496"/>
                  </a:lnTo>
                  <a:lnTo>
                    <a:pt x="1964182" y="158496"/>
                  </a:lnTo>
                  <a:lnTo>
                    <a:pt x="1964182" y="765429"/>
                  </a:lnTo>
                  <a:lnTo>
                    <a:pt x="1957451" y="765429"/>
                  </a:lnTo>
                  <a:lnTo>
                    <a:pt x="1964182" y="765429"/>
                  </a:lnTo>
                  <a:cubicBezTo>
                    <a:pt x="1964182" y="853059"/>
                    <a:pt x="1892681" y="923925"/>
                    <a:pt x="1804543" y="923925"/>
                  </a:cubicBezTo>
                  <a:lnTo>
                    <a:pt x="1804543" y="917194"/>
                  </a:lnTo>
                  <a:lnTo>
                    <a:pt x="1804543" y="923925"/>
                  </a:lnTo>
                  <a:lnTo>
                    <a:pt x="159639" y="923925"/>
                  </a:lnTo>
                  <a:lnTo>
                    <a:pt x="159639" y="917194"/>
                  </a:lnTo>
                  <a:lnTo>
                    <a:pt x="159639" y="923925"/>
                  </a:lnTo>
                  <a:cubicBezTo>
                    <a:pt x="71501" y="923925"/>
                    <a:pt x="0" y="852932"/>
                    <a:pt x="0" y="765429"/>
                  </a:cubicBezTo>
                  <a:lnTo>
                    <a:pt x="0" y="158496"/>
                  </a:lnTo>
                  <a:lnTo>
                    <a:pt x="6731" y="158496"/>
                  </a:lnTo>
                  <a:lnTo>
                    <a:pt x="0" y="158496"/>
                  </a:lnTo>
                  <a:moveTo>
                    <a:pt x="13589" y="158496"/>
                  </a:moveTo>
                  <a:lnTo>
                    <a:pt x="13589" y="765429"/>
                  </a:lnTo>
                  <a:lnTo>
                    <a:pt x="6731" y="765429"/>
                  </a:lnTo>
                  <a:lnTo>
                    <a:pt x="13462" y="765429"/>
                  </a:lnTo>
                  <a:cubicBezTo>
                    <a:pt x="13462" y="845439"/>
                    <a:pt x="78867" y="910336"/>
                    <a:pt x="159639" y="910336"/>
                  </a:cubicBezTo>
                  <a:lnTo>
                    <a:pt x="1804543" y="910336"/>
                  </a:lnTo>
                  <a:cubicBezTo>
                    <a:pt x="1885315" y="910336"/>
                    <a:pt x="1950720" y="845439"/>
                    <a:pt x="1950720" y="765429"/>
                  </a:cubicBezTo>
                  <a:lnTo>
                    <a:pt x="1950720" y="158496"/>
                  </a:lnTo>
                  <a:cubicBezTo>
                    <a:pt x="1950720" y="78486"/>
                    <a:pt x="1885315" y="13589"/>
                    <a:pt x="1804543" y="13589"/>
                  </a:cubicBezTo>
                  <a:lnTo>
                    <a:pt x="159639" y="13589"/>
                  </a:lnTo>
                  <a:lnTo>
                    <a:pt x="159639" y="6731"/>
                  </a:lnTo>
                  <a:lnTo>
                    <a:pt x="159639" y="13462"/>
                  </a:lnTo>
                  <a:cubicBezTo>
                    <a:pt x="78867" y="13589"/>
                    <a:pt x="13589" y="78486"/>
                    <a:pt x="13589" y="158496"/>
                  </a:cubicBezTo>
                  <a:close/>
                </a:path>
              </a:pathLst>
            </a:custGeom>
            <a:solidFill>
              <a:srgbClr val="4A7EBB"/>
            </a:solidFill>
          </p:spPr>
        </p:sp>
        <p:sp>
          <p:nvSpPr>
            <p:cNvPr name="TextBox 9" id="9"/>
            <p:cNvSpPr txBox="true"/>
            <p:nvPr/>
          </p:nvSpPr>
          <p:spPr>
            <a:xfrm>
              <a:off x="0" y="-28575"/>
              <a:ext cx="1964271" cy="952462"/>
            </a:xfrm>
            <a:prstGeom prst="rect">
              <a:avLst/>
            </a:prstGeom>
          </p:spPr>
          <p:txBody>
            <a:bodyPr anchor="ctr" rtlCol="false" tIns="50800" lIns="50800" bIns="50800" rIns="50800"/>
            <a:lstStyle/>
            <a:p>
              <a:pPr algn="l">
                <a:lnSpc>
                  <a:spcPts val="1535"/>
                </a:lnSpc>
              </a:pPr>
              <a:r>
                <a:rPr lang="en-US" sz="1279">
                  <a:solidFill>
                    <a:srgbClr val="081428"/>
                  </a:solidFill>
                  <a:latin typeface="Calibri (MS)"/>
                  <a:ea typeface="Calibri (MS)"/>
                  <a:cs typeface="Calibri (MS)"/>
                  <a:sym typeface="Calibri (MS)"/>
                </a:rPr>
                <a:t>Service A</a:t>
              </a:r>
            </a:p>
          </p:txBody>
        </p:sp>
      </p:grpSp>
      <p:grpSp>
        <p:nvGrpSpPr>
          <p:cNvPr name="Group 10" id="10"/>
          <p:cNvGrpSpPr/>
          <p:nvPr/>
        </p:nvGrpSpPr>
        <p:grpSpPr>
          <a:xfrm rot="0">
            <a:off x="2140715" y="4286507"/>
            <a:ext cx="1473203" cy="692915"/>
            <a:chOff x="0" y="0"/>
            <a:chExt cx="1964271" cy="923887"/>
          </a:xfrm>
        </p:grpSpPr>
        <p:sp>
          <p:nvSpPr>
            <p:cNvPr name="Freeform 11" id="11"/>
            <p:cNvSpPr/>
            <p:nvPr/>
          </p:nvSpPr>
          <p:spPr>
            <a:xfrm flipH="false" flipV="false" rot="0">
              <a:off x="6731" y="6731"/>
              <a:ext cx="1950720" cy="910463"/>
            </a:xfrm>
            <a:custGeom>
              <a:avLst/>
              <a:gdLst/>
              <a:ahLst/>
              <a:cxnLst/>
              <a:rect r="r" b="b" t="t" l="l"/>
              <a:pathLst>
                <a:path h="910463" w="1950720">
                  <a:moveTo>
                    <a:pt x="0" y="151765"/>
                  </a:moveTo>
                  <a:cubicBezTo>
                    <a:pt x="0" y="67945"/>
                    <a:pt x="68453" y="0"/>
                    <a:pt x="152908" y="0"/>
                  </a:cubicBezTo>
                  <a:lnTo>
                    <a:pt x="1797812" y="0"/>
                  </a:lnTo>
                  <a:cubicBezTo>
                    <a:pt x="1882267" y="0"/>
                    <a:pt x="1950720" y="67945"/>
                    <a:pt x="1950720" y="151765"/>
                  </a:cubicBezTo>
                  <a:lnTo>
                    <a:pt x="1950720" y="758698"/>
                  </a:lnTo>
                  <a:cubicBezTo>
                    <a:pt x="1950720" y="842518"/>
                    <a:pt x="1882267" y="910463"/>
                    <a:pt x="1797812" y="910463"/>
                  </a:cubicBezTo>
                  <a:lnTo>
                    <a:pt x="152908" y="910463"/>
                  </a:lnTo>
                  <a:cubicBezTo>
                    <a:pt x="68453" y="910336"/>
                    <a:pt x="0" y="842391"/>
                    <a:pt x="0" y="758698"/>
                  </a:cubicBezTo>
                  <a:close/>
                </a:path>
              </a:pathLst>
            </a:custGeom>
            <a:solidFill>
              <a:srgbClr val="00C8FF"/>
            </a:solidFill>
          </p:spPr>
        </p:sp>
        <p:sp>
          <p:nvSpPr>
            <p:cNvPr name="Freeform 12" id="12"/>
            <p:cNvSpPr/>
            <p:nvPr/>
          </p:nvSpPr>
          <p:spPr>
            <a:xfrm flipH="false" flipV="false" rot="0">
              <a:off x="0" y="0"/>
              <a:ext cx="1964182" cy="923925"/>
            </a:xfrm>
            <a:custGeom>
              <a:avLst/>
              <a:gdLst/>
              <a:ahLst/>
              <a:cxnLst/>
              <a:rect r="r" b="b" t="t" l="l"/>
              <a:pathLst>
                <a:path h="923925" w="1964182">
                  <a:moveTo>
                    <a:pt x="0" y="158496"/>
                  </a:moveTo>
                  <a:cubicBezTo>
                    <a:pt x="0" y="70866"/>
                    <a:pt x="71501" y="0"/>
                    <a:pt x="159639" y="0"/>
                  </a:cubicBezTo>
                  <a:lnTo>
                    <a:pt x="1804543" y="0"/>
                  </a:lnTo>
                  <a:lnTo>
                    <a:pt x="1804543" y="6731"/>
                  </a:lnTo>
                  <a:lnTo>
                    <a:pt x="1804543" y="0"/>
                  </a:lnTo>
                  <a:cubicBezTo>
                    <a:pt x="1892681" y="0"/>
                    <a:pt x="1964182" y="70866"/>
                    <a:pt x="1964182" y="158496"/>
                  </a:cubicBezTo>
                  <a:lnTo>
                    <a:pt x="1957451" y="158496"/>
                  </a:lnTo>
                  <a:lnTo>
                    <a:pt x="1964182" y="158496"/>
                  </a:lnTo>
                  <a:lnTo>
                    <a:pt x="1964182" y="765429"/>
                  </a:lnTo>
                  <a:lnTo>
                    <a:pt x="1957451" y="765429"/>
                  </a:lnTo>
                  <a:lnTo>
                    <a:pt x="1964182" y="765429"/>
                  </a:lnTo>
                  <a:cubicBezTo>
                    <a:pt x="1964182" y="853059"/>
                    <a:pt x="1892681" y="923925"/>
                    <a:pt x="1804543" y="923925"/>
                  </a:cubicBezTo>
                  <a:lnTo>
                    <a:pt x="1804543" y="917194"/>
                  </a:lnTo>
                  <a:lnTo>
                    <a:pt x="1804543" y="923925"/>
                  </a:lnTo>
                  <a:lnTo>
                    <a:pt x="159639" y="923925"/>
                  </a:lnTo>
                  <a:lnTo>
                    <a:pt x="159639" y="917194"/>
                  </a:lnTo>
                  <a:lnTo>
                    <a:pt x="159639" y="923925"/>
                  </a:lnTo>
                  <a:cubicBezTo>
                    <a:pt x="71501" y="923925"/>
                    <a:pt x="0" y="852932"/>
                    <a:pt x="0" y="765429"/>
                  </a:cubicBezTo>
                  <a:lnTo>
                    <a:pt x="0" y="158496"/>
                  </a:lnTo>
                  <a:lnTo>
                    <a:pt x="6731" y="158496"/>
                  </a:lnTo>
                  <a:lnTo>
                    <a:pt x="0" y="158496"/>
                  </a:lnTo>
                  <a:moveTo>
                    <a:pt x="13589" y="158496"/>
                  </a:moveTo>
                  <a:lnTo>
                    <a:pt x="13589" y="765429"/>
                  </a:lnTo>
                  <a:lnTo>
                    <a:pt x="6731" y="765429"/>
                  </a:lnTo>
                  <a:lnTo>
                    <a:pt x="13462" y="765429"/>
                  </a:lnTo>
                  <a:cubicBezTo>
                    <a:pt x="13462" y="845439"/>
                    <a:pt x="78867" y="910336"/>
                    <a:pt x="159639" y="910336"/>
                  </a:cubicBezTo>
                  <a:lnTo>
                    <a:pt x="1804543" y="910336"/>
                  </a:lnTo>
                  <a:cubicBezTo>
                    <a:pt x="1885315" y="910336"/>
                    <a:pt x="1950720" y="845439"/>
                    <a:pt x="1950720" y="765429"/>
                  </a:cubicBezTo>
                  <a:lnTo>
                    <a:pt x="1950720" y="158496"/>
                  </a:lnTo>
                  <a:cubicBezTo>
                    <a:pt x="1950720" y="78486"/>
                    <a:pt x="1885315" y="13589"/>
                    <a:pt x="1804543" y="13589"/>
                  </a:cubicBezTo>
                  <a:lnTo>
                    <a:pt x="159639" y="13589"/>
                  </a:lnTo>
                  <a:lnTo>
                    <a:pt x="159639" y="6731"/>
                  </a:lnTo>
                  <a:lnTo>
                    <a:pt x="159639" y="13462"/>
                  </a:lnTo>
                  <a:cubicBezTo>
                    <a:pt x="78867" y="13589"/>
                    <a:pt x="13589" y="78486"/>
                    <a:pt x="13589" y="158496"/>
                  </a:cubicBezTo>
                  <a:close/>
                </a:path>
              </a:pathLst>
            </a:custGeom>
            <a:solidFill>
              <a:srgbClr val="4A7EBB"/>
            </a:solidFill>
          </p:spPr>
        </p:sp>
        <p:sp>
          <p:nvSpPr>
            <p:cNvPr name="TextBox 13" id="13"/>
            <p:cNvSpPr txBox="true"/>
            <p:nvPr/>
          </p:nvSpPr>
          <p:spPr>
            <a:xfrm>
              <a:off x="0" y="-28575"/>
              <a:ext cx="1964271" cy="952462"/>
            </a:xfrm>
            <a:prstGeom prst="rect">
              <a:avLst/>
            </a:prstGeom>
          </p:spPr>
          <p:txBody>
            <a:bodyPr anchor="ctr" rtlCol="false" tIns="50800" lIns="50800" bIns="50800" rIns="50800"/>
            <a:lstStyle/>
            <a:p>
              <a:pPr algn="l">
                <a:lnSpc>
                  <a:spcPts val="1535"/>
                </a:lnSpc>
              </a:pPr>
              <a:r>
                <a:rPr lang="en-US" sz="1279">
                  <a:solidFill>
                    <a:srgbClr val="081428"/>
                  </a:solidFill>
                  <a:latin typeface="Calibri (MS)"/>
                  <a:ea typeface="Calibri (MS)"/>
                  <a:cs typeface="Calibri (MS)"/>
                  <a:sym typeface="Calibri (MS)"/>
                </a:rPr>
                <a:t>Service B</a:t>
              </a:r>
            </a:p>
          </p:txBody>
        </p:sp>
      </p:grpSp>
      <p:grpSp>
        <p:nvGrpSpPr>
          <p:cNvPr name="Group 14" id="14"/>
          <p:cNvGrpSpPr/>
          <p:nvPr/>
        </p:nvGrpSpPr>
        <p:grpSpPr>
          <a:xfrm rot="0">
            <a:off x="3701291" y="4286507"/>
            <a:ext cx="1473203" cy="692915"/>
            <a:chOff x="0" y="0"/>
            <a:chExt cx="1964271" cy="923887"/>
          </a:xfrm>
        </p:grpSpPr>
        <p:sp>
          <p:nvSpPr>
            <p:cNvPr name="Freeform 15" id="15"/>
            <p:cNvSpPr/>
            <p:nvPr/>
          </p:nvSpPr>
          <p:spPr>
            <a:xfrm flipH="false" flipV="false" rot="0">
              <a:off x="6731" y="6731"/>
              <a:ext cx="1950720" cy="910463"/>
            </a:xfrm>
            <a:custGeom>
              <a:avLst/>
              <a:gdLst/>
              <a:ahLst/>
              <a:cxnLst/>
              <a:rect r="r" b="b" t="t" l="l"/>
              <a:pathLst>
                <a:path h="910463" w="1950720">
                  <a:moveTo>
                    <a:pt x="0" y="151765"/>
                  </a:moveTo>
                  <a:cubicBezTo>
                    <a:pt x="0" y="67945"/>
                    <a:pt x="68453" y="0"/>
                    <a:pt x="152908" y="0"/>
                  </a:cubicBezTo>
                  <a:lnTo>
                    <a:pt x="1797812" y="0"/>
                  </a:lnTo>
                  <a:cubicBezTo>
                    <a:pt x="1882267" y="0"/>
                    <a:pt x="1950720" y="67945"/>
                    <a:pt x="1950720" y="151765"/>
                  </a:cubicBezTo>
                  <a:lnTo>
                    <a:pt x="1950720" y="758698"/>
                  </a:lnTo>
                  <a:cubicBezTo>
                    <a:pt x="1950720" y="842518"/>
                    <a:pt x="1882267" y="910463"/>
                    <a:pt x="1797812" y="910463"/>
                  </a:cubicBezTo>
                  <a:lnTo>
                    <a:pt x="152908" y="910463"/>
                  </a:lnTo>
                  <a:cubicBezTo>
                    <a:pt x="68453" y="910336"/>
                    <a:pt x="0" y="842391"/>
                    <a:pt x="0" y="758698"/>
                  </a:cubicBezTo>
                  <a:close/>
                </a:path>
              </a:pathLst>
            </a:custGeom>
            <a:solidFill>
              <a:srgbClr val="00C8FF"/>
            </a:solidFill>
          </p:spPr>
        </p:sp>
        <p:sp>
          <p:nvSpPr>
            <p:cNvPr name="Freeform 16" id="16"/>
            <p:cNvSpPr/>
            <p:nvPr/>
          </p:nvSpPr>
          <p:spPr>
            <a:xfrm flipH="false" flipV="false" rot="0">
              <a:off x="0" y="0"/>
              <a:ext cx="1964182" cy="923925"/>
            </a:xfrm>
            <a:custGeom>
              <a:avLst/>
              <a:gdLst/>
              <a:ahLst/>
              <a:cxnLst/>
              <a:rect r="r" b="b" t="t" l="l"/>
              <a:pathLst>
                <a:path h="923925" w="1964182">
                  <a:moveTo>
                    <a:pt x="0" y="158496"/>
                  </a:moveTo>
                  <a:cubicBezTo>
                    <a:pt x="0" y="70866"/>
                    <a:pt x="71501" y="0"/>
                    <a:pt x="159639" y="0"/>
                  </a:cubicBezTo>
                  <a:lnTo>
                    <a:pt x="1804543" y="0"/>
                  </a:lnTo>
                  <a:lnTo>
                    <a:pt x="1804543" y="6731"/>
                  </a:lnTo>
                  <a:lnTo>
                    <a:pt x="1804543" y="0"/>
                  </a:lnTo>
                  <a:cubicBezTo>
                    <a:pt x="1892681" y="0"/>
                    <a:pt x="1964182" y="70866"/>
                    <a:pt x="1964182" y="158496"/>
                  </a:cubicBezTo>
                  <a:lnTo>
                    <a:pt x="1957451" y="158496"/>
                  </a:lnTo>
                  <a:lnTo>
                    <a:pt x="1964182" y="158496"/>
                  </a:lnTo>
                  <a:lnTo>
                    <a:pt x="1964182" y="765429"/>
                  </a:lnTo>
                  <a:lnTo>
                    <a:pt x="1957451" y="765429"/>
                  </a:lnTo>
                  <a:lnTo>
                    <a:pt x="1964182" y="765429"/>
                  </a:lnTo>
                  <a:cubicBezTo>
                    <a:pt x="1964182" y="853059"/>
                    <a:pt x="1892681" y="923925"/>
                    <a:pt x="1804543" y="923925"/>
                  </a:cubicBezTo>
                  <a:lnTo>
                    <a:pt x="1804543" y="917194"/>
                  </a:lnTo>
                  <a:lnTo>
                    <a:pt x="1804543" y="923925"/>
                  </a:lnTo>
                  <a:lnTo>
                    <a:pt x="159639" y="923925"/>
                  </a:lnTo>
                  <a:lnTo>
                    <a:pt x="159639" y="917194"/>
                  </a:lnTo>
                  <a:lnTo>
                    <a:pt x="159639" y="923925"/>
                  </a:lnTo>
                  <a:cubicBezTo>
                    <a:pt x="71501" y="923925"/>
                    <a:pt x="0" y="852932"/>
                    <a:pt x="0" y="765429"/>
                  </a:cubicBezTo>
                  <a:lnTo>
                    <a:pt x="0" y="158496"/>
                  </a:lnTo>
                  <a:lnTo>
                    <a:pt x="6731" y="158496"/>
                  </a:lnTo>
                  <a:lnTo>
                    <a:pt x="0" y="158496"/>
                  </a:lnTo>
                  <a:moveTo>
                    <a:pt x="13589" y="158496"/>
                  </a:moveTo>
                  <a:lnTo>
                    <a:pt x="13589" y="765429"/>
                  </a:lnTo>
                  <a:lnTo>
                    <a:pt x="6731" y="765429"/>
                  </a:lnTo>
                  <a:lnTo>
                    <a:pt x="13462" y="765429"/>
                  </a:lnTo>
                  <a:cubicBezTo>
                    <a:pt x="13462" y="845439"/>
                    <a:pt x="78867" y="910336"/>
                    <a:pt x="159639" y="910336"/>
                  </a:cubicBezTo>
                  <a:lnTo>
                    <a:pt x="1804543" y="910336"/>
                  </a:lnTo>
                  <a:cubicBezTo>
                    <a:pt x="1885315" y="910336"/>
                    <a:pt x="1950720" y="845439"/>
                    <a:pt x="1950720" y="765429"/>
                  </a:cubicBezTo>
                  <a:lnTo>
                    <a:pt x="1950720" y="158496"/>
                  </a:lnTo>
                  <a:cubicBezTo>
                    <a:pt x="1950720" y="78486"/>
                    <a:pt x="1885315" y="13589"/>
                    <a:pt x="1804543" y="13589"/>
                  </a:cubicBezTo>
                  <a:lnTo>
                    <a:pt x="159639" y="13589"/>
                  </a:lnTo>
                  <a:lnTo>
                    <a:pt x="159639" y="6731"/>
                  </a:lnTo>
                  <a:lnTo>
                    <a:pt x="159639" y="13462"/>
                  </a:lnTo>
                  <a:cubicBezTo>
                    <a:pt x="78867" y="13589"/>
                    <a:pt x="13589" y="78486"/>
                    <a:pt x="13589" y="158496"/>
                  </a:cubicBezTo>
                  <a:close/>
                </a:path>
              </a:pathLst>
            </a:custGeom>
            <a:solidFill>
              <a:srgbClr val="4A7EBB"/>
            </a:solidFill>
          </p:spPr>
        </p:sp>
        <p:sp>
          <p:nvSpPr>
            <p:cNvPr name="TextBox 17" id="17"/>
            <p:cNvSpPr txBox="true"/>
            <p:nvPr/>
          </p:nvSpPr>
          <p:spPr>
            <a:xfrm>
              <a:off x="0" y="-28575"/>
              <a:ext cx="1964271" cy="952462"/>
            </a:xfrm>
            <a:prstGeom prst="rect">
              <a:avLst/>
            </a:prstGeom>
          </p:spPr>
          <p:txBody>
            <a:bodyPr anchor="ctr" rtlCol="false" tIns="50800" lIns="50800" bIns="50800" rIns="50800"/>
            <a:lstStyle/>
            <a:p>
              <a:pPr algn="l">
                <a:lnSpc>
                  <a:spcPts val="1535"/>
                </a:lnSpc>
              </a:pPr>
              <a:r>
                <a:rPr lang="en-US" sz="1279">
                  <a:solidFill>
                    <a:srgbClr val="081428"/>
                  </a:solidFill>
                  <a:latin typeface="Calibri (MS)"/>
                  <a:ea typeface="Calibri (MS)"/>
                  <a:cs typeface="Calibri (MS)"/>
                  <a:sym typeface="Calibri (MS)"/>
                </a:rPr>
                <a:t>Service C</a:t>
              </a:r>
            </a:p>
          </p:txBody>
        </p:sp>
      </p:grpSp>
      <p:grpSp>
        <p:nvGrpSpPr>
          <p:cNvPr name="Group 18" id="18"/>
          <p:cNvGrpSpPr/>
          <p:nvPr/>
        </p:nvGrpSpPr>
        <p:grpSpPr>
          <a:xfrm rot="0">
            <a:off x="5261867" y="4286507"/>
            <a:ext cx="1473203" cy="692915"/>
            <a:chOff x="0" y="0"/>
            <a:chExt cx="1964271" cy="923887"/>
          </a:xfrm>
        </p:grpSpPr>
        <p:sp>
          <p:nvSpPr>
            <p:cNvPr name="Freeform 19" id="19"/>
            <p:cNvSpPr/>
            <p:nvPr/>
          </p:nvSpPr>
          <p:spPr>
            <a:xfrm flipH="false" flipV="false" rot="0">
              <a:off x="6731" y="6731"/>
              <a:ext cx="1950720" cy="910463"/>
            </a:xfrm>
            <a:custGeom>
              <a:avLst/>
              <a:gdLst/>
              <a:ahLst/>
              <a:cxnLst/>
              <a:rect r="r" b="b" t="t" l="l"/>
              <a:pathLst>
                <a:path h="910463" w="1950720">
                  <a:moveTo>
                    <a:pt x="0" y="151765"/>
                  </a:moveTo>
                  <a:cubicBezTo>
                    <a:pt x="0" y="67945"/>
                    <a:pt x="68453" y="0"/>
                    <a:pt x="152908" y="0"/>
                  </a:cubicBezTo>
                  <a:lnTo>
                    <a:pt x="1797812" y="0"/>
                  </a:lnTo>
                  <a:cubicBezTo>
                    <a:pt x="1882267" y="0"/>
                    <a:pt x="1950720" y="67945"/>
                    <a:pt x="1950720" y="151765"/>
                  </a:cubicBezTo>
                  <a:lnTo>
                    <a:pt x="1950720" y="758698"/>
                  </a:lnTo>
                  <a:cubicBezTo>
                    <a:pt x="1950720" y="842518"/>
                    <a:pt x="1882267" y="910463"/>
                    <a:pt x="1797812" y="910463"/>
                  </a:cubicBezTo>
                  <a:lnTo>
                    <a:pt x="152908" y="910463"/>
                  </a:lnTo>
                  <a:cubicBezTo>
                    <a:pt x="68453" y="910336"/>
                    <a:pt x="0" y="842391"/>
                    <a:pt x="0" y="758698"/>
                  </a:cubicBezTo>
                  <a:close/>
                </a:path>
              </a:pathLst>
            </a:custGeom>
            <a:solidFill>
              <a:srgbClr val="00C8FF"/>
            </a:solidFill>
          </p:spPr>
        </p:sp>
        <p:sp>
          <p:nvSpPr>
            <p:cNvPr name="Freeform 20" id="20"/>
            <p:cNvSpPr/>
            <p:nvPr/>
          </p:nvSpPr>
          <p:spPr>
            <a:xfrm flipH="false" flipV="false" rot="0">
              <a:off x="0" y="0"/>
              <a:ext cx="1964182" cy="923925"/>
            </a:xfrm>
            <a:custGeom>
              <a:avLst/>
              <a:gdLst/>
              <a:ahLst/>
              <a:cxnLst/>
              <a:rect r="r" b="b" t="t" l="l"/>
              <a:pathLst>
                <a:path h="923925" w="1964182">
                  <a:moveTo>
                    <a:pt x="0" y="158496"/>
                  </a:moveTo>
                  <a:cubicBezTo>
                    <a:pt x="0" y="70866"/>
                    <a:pt x="71501" y="0"/>
                    <a:pt x="159639" y="0"/>
                  </a:cubicBezTo>
                  <a:lnTo>
                    <a:pt x="1804543" y="0"/>
                  </a:lnTo>
                  <a:lnTo>
                    <a:pt x="1804543" y="6731"/>
                  </a:lnTo>
                  <a:lnTo>
                    <a:pt x="1804543" y="0"/>
                  </a:lnTo>
                  <a:cubicBezTo>
                    <a:pt x="1892681" y="0"/>
                    <a:pt x="1964182" y="70866"/>
                    <a:pt x="1964182" y="158496"/>
                  </a:cubicBezTo>
                  <a:lnTo>
                    <a:pt x="1957451" y="158496"/>
                  </a:lnTo>
                  <a:lnTo>
                    <a:pt x="1964182" y="158496"/>
                  </a:lnTo>
                  <a:lnTo>
                    <a:pt x="1964182" y="765429"/>
                  </a:lnTo>
                  <a:lnTo>
                    <a:pt x="1957451" y="765429"/>
                  </a:lnTo>
                  <a:lnTo>
                    <a:pt x="1964182" y="765429"/>
                  </a:lnTo>
                  <a:cubicBezTo>
                    <a:pt x="1964182" y="853059"/>
                    <a:pt x="1892681" y="923925"/>
                    <a:pt x="1804543" y="923925"/>
                  </a:cubicBezTo>
                  <a:lnTo>
                    <a:pt x="1804543" y="917194"/>
                  </a:lnTo>
                  <a:lnTo>
                    <a:pt x="1804543" y="923925"/>
                  </a:lnTo>
                  <a:lnTo>
                    <a:pt x="159639" y="923925"/>
                  </a:lnTo>
                  <a:lnTo>
                    <a:pt x="159639" y="917194"/>
                  </a:lnTo>
                  <a:lnTo>
                    <a:pt x="159639" y="923925"/>
                  </a:lnTo>
                  <a:cubicBezTo>
                    <a:pt x="71501" y="923925"/>
                    <a:pt x="0" y="852932"/>
                    <a:pt x="0" y="765429"/>
                  </a:cubicBezTo>
                  <a:lnTo>
                    <a:pt x="0" y="158496"/>
                  </a:lnTo>
                  <a:lnTo>
                    <a:pt x="6731" y="158496"/>
                  </a:lnTo>
                  <a:lnTo>
                    <a:pt x="0" y="158496"/>
                  </a:lnTo>
                  <a:moveTo>
                    <a:pt x="13589" y="158496"/>
                  </a:moveTo>
                  <a:lnTo>
                    <a:pt x="13589" y="765429"/>
                  </a:lnTo>
                  <a:lnTo>
                    <a:pt x="6731" y="765429"/>
                  </a:lnTo>
                  <a:lnTo>
                    <a:pt x="13462" y="765429"/>
                  </a:lnTo>
                  <a:cubicBezTo>
                    <a:pt x="13462" y="845439"/>
                    <a:pt x="78867" y="910336"/>
                    <a:pt x="159639" y="910336"/>
                  </a:cubicBezTo>
                  <a:lnTo>
                    <a:pt x="1804543" y="910336"/>
                  </a:lnTo>
                  <a:cubicBezTo>
                    <a:pt x="1885315" y="910336"/>
                    <a:pt x="1950720" y="845439"/>
                    <a:pt x="1950720" y="765429"/>
                  </a:cubicBezTo>
                  <a:lnTo>
                    <a:pt x="1950720" y="158496"/>
                  </a:lnTo>
                  <a:cubicBezTo>
                    <a:pt x="1950720" y="78486"/>
                    <a:pt x="1885315" y="13589"/>
                    <a:pt x="1804543" y="13589"/>
                  </a:cubicBezTo>
                  <a:lnTo>
                    <a:pt x="159639" y="13589"/>
                  </a:lnTo>
                  <a:lnTo>
                    <a:pt x="159639" y="6731"/>
                  </a:lnTo>
                  <a:lnTo>
                    <a:pt x="159639" y="13462"/>
                  </a:lnTo>
                  <a:cubicBezTo>
                    <a:pt x="78867" y="13589"/>
                    <a:pt x="13589" y="78486"/>
                    <a:pt x="13589" y="158496"/>
                  </a:cubicBezTo>
                  <a:close/>
                </a:path>
              </a:pathLst>
            </a:custGeom>
            <a:solidFill>
              <a:srgbClr val="4A7EBB"/>
            </a:solidFill>
          </p:spPr>
        </p:sp>
        <p:sp>
          <p:nvSpPr>
            <p:cNvPr name="TextBox 21" id="21"/>
            <p:cNvSpPr txBox="true"/>
            <p:nvPr/>
          </p:nvSpPr>
          <p:spPr>
            <a:xfrm>
              <a:off x="0" y="-28575"/>
              <a:ext cx="1964271" cy="952462"/>
            </a:xfrm>
            <a:prstGeom prst="rect">
              <a:avLst/>
            </a:prstGeom>
          </p:spPr>
          <p:txBody>
            <a:bodyPr anchor="ctr" rtlCol="false" tIns="50800" lIns="50800" bIns="50800" rIns="50800"/>
            <a:lstStyle/>
            <a:p>
              <a:pPr algn="l">
                <a:lnSpc>
                  <a:spcPts val="1535"/>
                </a:lnSpc>
              </a:pPr>
              <a:r>
                <a:rPr lang="en-US" sz="1279">
                  <a:solidFill>
                    <a:srgbClr val="081428"/>
                  </a:solidFill>
                  <a:latin typeface="Calibri (MS)"/>
                  <a:ea typeface="Calibri (MS)"/>
                  <a:cs typeface="Calibri (MS)"/>
                  <a:sym typeface="Calibri (MS)"/>
                </a:rPr>
                <a:t>DB</a:t>
              </a:r>
            </a:p>
          </p:txBody>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081428"/>
        </a:solidFill>
      </p:bgPr>
    </p:bg>
    <p:spTree>
      <p:nvGrpSpPr>
        <p:cNvPr id="1" name=""/>
        <p:cNvGrpSpPr/>
        <p:nvPr/>
      </p:nvGrpSpPr>
      <p:grpSpPr>
        <a:xfrm>
          <a:off x="0" y="0"/>
          <a:ext cx="0" cy="0"/>
          <a:chOff x="0" y="0"/>
          <a:chExt cx="0" cy="0"/>
        </a:xfrm>
      </p:grpSpPr>
      <p:grpSp>
        <p:nvGrpSpPr>
          <p:cNvPr name="Group 2" id="2"/>
          <p:cNvGrpSpPr/>
          <p:nvPr/>
        </p:nvGrpSpPr>
        <p:grpSpPr>
          <a:xfrm rot="0">
            <a:off x="0" y="4389120"/>
            <a:ext cx="12679680" cy="1950720"/>
            <a:chOff x="0" y="0"/>
            <a:chExt cx="16906240" cy="2600960"/>
          </a:xfrm>
        </p:grpSpPr>
        <p:sp>
          <p:nvSpPr>
            <p:cNvPr name="Freeform 3" id="3"/>
            <p:cNvSpPr/>
            <p:nvPr/>
          </p:nvSpPr>
          <p:spPr>
            <a:xfrm flipH="false" flipV="false" rot="0">
              <a:off x="0" y="0"/>
              <a:ext cx="16906239" cy="2600960"/>
            </a:xfrm>
            <a:custGeom>
              <a:avLst/>
              <a:gdLst/>
              <a:ahLst/>
              <a:cxnLst/>
              <a:rect r="r" b="b" t="t" l="l"/>
              <a:pathLst>
                <a:path h="2600960" w="16906239">
                  <a:moveTo>
                    <a:pt x="0" y="0"/>
                  </a:moveTo>
                  <a:lnTo>
                    <a:pt x="16906239" y="0"/>
                  </a:lnTo>
                  <a:lnTo>
                    <a:pt x="16906239" y="2600960"/>
                  </a:lnTo>
                  <a:lnTo>
                    <a:pt x="0" y="2600960"/>
                  </a:lnTo>
                  <a:close/>
                </a:path>
              </a:pathLst>
            </a:custGeom>
            <a:solidFill>
              <a:srgbClr val="0F376E"/>
            </a:solidFill>
          </p:spPr>
        </p:sp>
      </p:grpSp>
      <p:sp>
        <p:nvSpPr>
          <p:cNvPr name="TextBox 4" id="4"/>
          <p:cNvSpPr txBox="true"/>
          <p:nvPr/>
        </p:nvSpPr>
        <p:spPr>
          <a:xfrm rot="0">
            <a:off x="871728" y="621411"/>
            <a:ext cx="8595360" cy="893445"/>
          </a:xfrm>
          <a:prstGeom prst="rect">
            <a:avLst/>
          </a:prstGeom>
        </p:spPr>
        <p:txBody>
          <a:bodyPr anchor="t" rtlCol="false" tIns="0" lIns="0" bIns="0" rIns="0">
            <a:spAutoFit/>
          </a:bodyPr>
          <a:lstStyle/>
          <a:p>
            <a:pPr algn="l">
              <a:lnSpc>
                <a:spcPts val="4608"/>
              </a:lnSpc>
            </a:pPr>
            <a:r>
              <a:rPr lang="en-US" sz="3840" b="true">
                <a:solidFill>
                  <a:srgbClr val="00C8FF"/>
                </a:solidFill>
                <a:latin typeface="Georgia Bold"/>
                <a:ea typeface="Georgia Bold"/>
                <a:cs typeface="Georgia Bold"/>
                <a:sym typeface="Georgia Bold"/>
              </a:rPr>
              <a:t>Spring Boot for Microservices</a:t>
            </a:r>
          </a:p>
        </p:txBody>
      </p:sp>
      <p:sp>
        <p:nvSpPr>
          <p:cNvPr name="TextBox 5" id="5"/>
          <p:cNvSpPr txBox="true"/>
          <p:nvPr/>
        </p:nvSpPr>
        <p:spPr>
          <a:xfrm rot="0">
            <a:off x="871728" y="1577721"/>
            <a:ext cx="8595360" cy="3448431"/>
          </a:xfrm>
          <a:prstGeom prst="rect">
            <a:avLst/>
          </a:prstGeom>
        </p:spPr>
        <p:txBody>
          <a:bodyPr anchor="t" rtlCol="false" tIns="0" lIns="0" bIns="0" rIns="0">
            <a:spAutoFit/>
          </a:bodyPr>
          <a:lstStyle/>
          <a:p>
            <a:pPr algn="l">
              <a:lnSpc>
                <a:spcPts val="1920"/>
              </a:lnSpc>
            </a:pPr>
            <a:r>
              <a:rPr lang="en-US" sz="1600">
                <a:solidFill>
                  <a:srgbClr val="FFFFFF"/>
                </a:solidFill>
                <a:latin typeface="Calibri (MS)"/>
                <a:ea typeface="Calibri (MS)"/>
                <a:cs typeface="Calibri (MS)"/>
                <a:sym typeface="Calibri (MS)"/>
              </a:rPr>
              <a:t>Spring Boot simplifies Java-based microservice development by providing auto-configuration, embedded servers, and production-ready features. It reduces boilerplate code and supports REST API development through annotations. Integration with Docker enables containerized deployment. Spring Boot enhances productivity, maintainability, and rapid application development. Features like Actuator provide monitoring and health checks, ensuring system observability in production environments.</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81428"/>
        </a:solidFill>
      </p:bgPr>
    </p:bg>
    <p:spTree>
      <p:nvGrpSpPr>
        <p:cNvPr id="1" name=""/>
        <p:cNvGrpSpPr/>
        <p:nvPr/>
      </p:nvGrpSpPr>
      <p:grpSpPr>
        <a:xfrm>
          <a:off x="0" y="0"/>
          <a:ext cx="0" cy="0"/>
          <a:chOff x="0" y="0"/>
          <a:chExt cx="0" cy="0"/>
        </a:xfrm>
      </p:grpSpPr>
      <p:grpSp>
        <p:nvGrpSpPr>
          <p:cNvPr name="Group 2" id="2"/>
          <p:cNvGrpSpPr/>
          <p:nvPr/>
        </p:nvGrpSpPr>
        <p:grpSpPr>
          <a:xfrm rot="0">
            <a:off x="0" y="4389120"/>
            <a:ext cx="12679680" cy="1950720"/>
            <a:chOff x="0" y="0"/>
            <a:chExt cx="16906240" cy="2600960"/>
          </a:xfrm>
        </p:grpSpPr>
        <p:sp>
          <p:nvSpPr>
            <p:cNvPr name="Freeform 3" id="3"/>
            <p:cNvSpPr/>
            <p:nvPr/>
          </p:nvSpPr>
          <p:spPr>
            <a:xfrm flipH="false" flipV="false" rot="0">
              <a:off x="0" y="0"/>
              <a:ext cx="16906239" cy="2600960"/>
            </a:xfrm>
            <a:custGeom>
              <a:avLst/>
              <a:gdLst/>
              <a:ahLst/>
              <a:cxnLst/>
              <a:rect r="r" b="b" t="t" l="l"/>
              <a:pathLst>
                <a:path h="2600960" w="16906239">
                  <a:moveTo>
                    <a:pt x="0" y="0"/>
                  </a:moveTo>
                  <a:lnTo>
                    <a:pt x="16906239" y="0"/>
                  </a:lnTo>
                  <a:lnTo>
                    <a:pt x="16906239" y="2600960"/>
                  </a:lnTo>
                  <a:lnTo>
                    <a:pt x="0" y="2600960"/>
                  </a:lnTo>
                  <a:close/>
                </a:path>
              </a:pathLst>
            </a:custGeom>
            <a:solidFill>
              <a:srgbClr val="0F376E"/>
            </a:solidFill>
          </p:spPr>
        </p:sp>
      </p:grpSp>
      <p:sp>
        <p:nvSpPr>
          <p:cNvPr name="TextBox 4" id="4"/>
          <p:cNvSpPr txBox="true"/>
          <p:nvPr/>
        </p:nvSpPr>
        <p:spPr>
          <a:xfrm rot="0">
            <a:off x="871728" y="621411"/>
            <a:ext cx="8595360" cy="893445"/>
          </a:xfrm>
          <a:prstGeom prst="rect">
            <a:avLst/>
          </a:prstGeom>
        </p:spPr>
        <p:txBody>
          <a:bodyPr anchor="t" rtlCol="false" tIns="0" lIns="0" bIns="0" rIns="0">
            <a:spAutoFit/>
          </a:bodyPr>
          <a:lstStyle/>
          <a:p>
            <a:pPr algn="l">
              <a:lnSpc>
                <a:spcPts val="4608"/>
              </a:lnSpc>
            </a:pPr>
            <a:r>
              <a:rPr lang="en-US" sz="3840" b="true">
                <a:solidFill>
                  <a:srgbClr val="00C8FF"/>
                </a:solidFill>
                <a:latin typeface="Georgia Bold"/>
                <a:ea typeface="Georgia Bold"/>
                <a:cs typeface="Georgia Bold"/>
                <a:sym typeface="Georgia Bold"/>
              </a:rPr>
              <a:t>Overall Architecture</a:t>
            </a:r>
          </a:p>
        </p:txBody>
      </p:sp>
      <p:sp>
        <p:nvSpPr>
          <p:cNvPr name="TextBox 5" id="5"/>
          <p:cNvSpPr txBox="true"/>
          <p:nvPr/>
        </p:nvSpPr>
        <p:spPr>
          <a:xfrm rot="0">
            <a:off x="871728" y="1577721"/>
            <a:ext cx="8595360" cy="3448431"/>
          </a:xfrm>
          <a:prstGeom prst="rect">
            <a:avLst/>
          </a:prstGeom>
        </p:spPr>
        <p:txBody>
          <a:bodyPr anchor="t" rtlCol="false" tIns="0" lIns="0" bIns="0" rIns="0">
            <a:spAutoFit/>
          </a:bodyPr>
          <a:lstStyle/>
          <a:p>
            <a:pPr algn="l">
              <a:lnSpc>
                <a:spcPts val="1920"/>
              </a:lnSpc>
            </a:pPr>
            <a:r>
              <a:rPr lang="en-US" sz="1600">
                <a:solidFill>
                  <a:srgbClr val="FFFFFF"/>
                </a:solidFill>
                <a:latin typeface="Calibri (MS)"/>
                <a:ea typeface="Calibri (MS)"/>
                <a:cs typeface="Calibri (MS)"/>
                <a:sym typeface="Calibri (MS)"/>
              </a:rPr>
              <a:t>The overall system architecture includes user interaction through a frontend application, request routing via an API Gateway, service processing through Dockerized microservices, and centralized database storage. Monitoring tools track performance and availability. This architecture supports scalability, flexibility, and high availability. Containerized deployment ensures environment consistency and simplified management. The layered design improves maintainability and efficient resource utilization.</a:t>
            </a:r>
          </a:p>
        </p:txBody>
      </p:sp>
      <p:grpSp>
        <p:nvGrpSpPr>
          <p:cNvPr name="Group 6" id="6"/>
          <p:cNvGrpSpPr/>
          <p:nvPr/>
        </p:nvGrpSpPr>
        <p:grpSpPr>
          <a:xfrm rot="0">
            <a:off x="580139" y="4286507"/>
            <a:ext cx="1473203" cy="692915"/>
            <a:chOff x="0" y="0"/>
            <a:chExt cx="1964271" cy="923887"/>
          </a:xfrm>
        </p:grpSpPr>
        <p:sp>
          <p:nvSpPr>
            <p:cNvPr name="Freeform 7" id="7"/>
            <p:cNvSpPr/>
            <p:nvPr/>
          </p:nvSpPr>
          <p:spPr>
            <a:xfrm flipH="false" flipV="false" rot="0">
              <a:off x="6731" y="6731"/>
              <a:ext cx="1950720" cy="910463"/>
            </a:xfrm>
            <a:custGeom>
              <a:avLst/>
              <a:gdLst/>
              <a:ahLst/>
              <a:cxnLst/>
              <a:rect r="r" b="b" t="t" l="l"/>
              <a:pathLst>
                <a:path h="910463" w="1950720">
                  <a:moveTo>
                    <a:pt x="0" y="151765"/>
                  </a:moveTo>
                  <a:cubicBezTo>
                    <a:pt x="0" y="67945"/>
                    <a:pt x="68453" y="0"/>
                    <a:pt x="152908" y="0"/>
                  </a:cubicBezTo>
                  <a:lnTo>
                    <a:pt x="1797812" y="0"/>
                  </a:lnTo>
                  <a:cubicBezTo>
                    <a:pt x="1882267" y="0"/>
                    <a:pt x="1950720" y="67945"/>
                    <a:pt x="1950720" y="151765"/>
                  </a:cubicBezTo>
                  <a:lnTo>
                    <a:pt x="1950720" y="758698"/>
                  </a:lnTo>
                  <a:cubicBezTo>
                    <a:pt x="1950720" y="842518"/>
                    <a:pt x="1882267" y="910463"/>
                    <a:pt x="1797812" y="910463"/>
                  </a:cubicBezTo>
                  <a:lnTo>
                    <a:pt x="152908" y="910463"/>
                  </a:lnTo>
                  <a:cubicBezTo>
                    <a:pt x="68453" y="910336"/>
                    <a:pt x="0" y="842391"/>
                    <a:pt x="0" y="758698"/>
                  </a:cubicBezTo>
                  <a:close/>
                </a:path>
              </a:pathLst>
            </a:custGeom>
            <a:solidFill>
              <a:srgbClr val="00C8FF"/>
            </a:solidFill>
          </p:spPr>
        </p:sp>
        <p:sp>
          <p:nvSpPr>
            <p:cNvPr name="Freeform 8" id="8"/>
            <p:cNvSpPr/>
            <p:nvPr/>
          </p:nvSpPr>
          <p:spPr>
            <a:xfrm flipH="false" flipV="false" rot="0">
              <a:off x="0" y="0"/>
              <a:ext cx="1964182" cy="923925"/>
            </a:xfrm>
            <a:custGeom>
              <a:avLst/>
              <a:gdLst/>
              <a:ahLst/>
              <a:cxnLst/>
              <a:rect r="r" b="b" t="t" l="l"/>
              <a:pathLst>
                <a:path h="923925" w="1964182">
                  <a:moveTo>
                    <a:pt x="0" y="158496"/>
                  </a:moveTo>
                  <a:cubicBezTo>
                    <a:pt x="0" y="70866"/>
                    <a:pt x="71501" y="0"/>
                    <a:pt x="159639" y="0"/>
                  </a:cubicBezTo>
                  <a:lnTo>
                    <a:pt x="1804543" y="0"/>
                  </a:lnTo>
                  <a:lnTo>
                    <a:pt x="1804543" y="6731"/>
                  </a:lnTo>
                  <a:lnTo>
                    <a:pt x="1804543" y="0"/>
                  </a:lnTo>
                  <a:cubicBezTo>
                    <a:pt x="1892681" y="0"/>
                    <a:pt x="1964182" y="70866"/>
                    <a:pt x="1964182" y="158496"/>
                  </a:cubicBezTo>
                  <a:lnTo>
                    <a:pt x="1957451" y="158496"/>
                  </a:lnTo>
                  <a:lnTo>
                    <a:pt x="1964182" y="158496"/>
                  </a:lnTo>
                  <a:lnTo>
                    <a:pt x="1964182" y="765429"/>
                  </a:lnTo>
                  <a:lnTo>
                    <a:pt x="1957451" y="765429"/>
                  </a:lnTo>
                  <a:lnTo>
                    <a:pt x="1964182" y="765429"/>
                  </a:lnTo>
                  <a:cubicBezTo>
                    <a:pt x="1964182" y="853059"/>
                    <a:pt x="1892681" y="923925"/>
                    <a:pt x="1804543" y="923925"/>
                  </a:cubicBezTo>
                  <a:lnTo>
                    <a:pt x="1804543" y="917194"/>
                  </a:lnTo>
                  <a:lnTo>
                    <a:pt x="1804543" y="923925"/>
                  </a:lnTo>
                  <a:lnTo>
                    <a:pt x="159639" y="923925"/>
                  </a:lnTo>
                  <a:lnTo>
                    <a:pt x="159639" y="917194"/>
                  </a:lnTo>
                  <a:lnTo>
                    <a:pt x="159639" y="923925"/>
                  </a:lnTo>
                  <a:cubicBezTo>
                    <a:pt x="71501" y="923925"/>
                    <a:pt x="0" y="852932"/>
                    <a:pt x="0" y="765429"/>
                  </a:cubicBezTo>
                  <a:lnTo>
                    <a:pt x="0" y="158496"/>
                  </a:lnTo>
                  <a:lnTo>
                    <a:pt x="6731" y="158496"/>
                  </a:lnTo>
                  <a:lnTo>
                    <a:pt x="0" y="158496"/>
                  </a:lnTo>
                  <a:moveTo>
                    <a:pt x="13589" y="158496"/>
                  </a:moveTo>
                  <a:lnTo>
                    <a:pt x="13589" y="765429"/>
                  </a:lnTo>
                  <a:lnTo>
                    <a:pt x="6731" y="765429"/>
                  </a:lnTo>
                  <a:lnTo>
                    <a:pt x="13462" y="765429"/>
                  </a:lnTo>
                  <a:cubicBezTo>
                    <a:pt x="13462" y="845439"/>
                    <a:pt x="78867" y="910336"/>
                    <a:pt x="159639" y="910336"/>
                  </a:cubicBezTo>
                  <a:lnTo>
                    <a:pt x="1804543" y="910336"/>
                  </a:lnTo>
                  <a:cubicBezTo>
                    <a:pt x="1885315" y="910336"/>
                    <a:pt x="1950720" y="845439"/>
                    <a:pt x="1950720" y="765429"/>
                  </a:cubicBezTo>
                  <a:lnTo>
                    <a:pt x="1950720" y="158496"/>
                  </a:lnTo>
                  <a:cubicBezTo>
                    <a:pt x="1950720" y="78486"/>
                    <a:pt x="1885315" y="13589"/>
                    <a:pt x="1804543" y="13589"/>
                  </a:cubicBezTo>
                  <a:lnTo>
                    <a:pt x="159639" y="13589"/>
                  </a:lnTo>
                  <a:lnTo>
                    <a:pt x="159639" y="6731"/>
                  </a:lnTo>
                  <a:lnTo>
                    <a:pt x="159639" y="13462"/>
                  </a:lnTo>
                  <a:cubicBezTo>
                    <a:pt x="78867" y="13589"/>
                    <a:pt x="13589" y="78486"/>
                    <a:pt x="13589" y="158496"/>
                  </a:cubicBezTo>
                  <a:close/>
                </a:path>
              </a:pathLst>
            </a:custGeom>
            <a:solidFill>
              <a:srgbClr val="4A7EBB"/>
            </a:solidFill>
          </p:spPr>
        </p:sp>
        <p:sp>
          <p:nvSpPr>
            <p:cNvPr name="TextBox 9" id="9"/>
            <p:cNvSpPr txBox="true"/>
            <p:nvPr/>
          </p:nvSpPr>
          <p:spPr>
            <a:xfrm>
              <a:off x="0" y="-28575"/>
              <a:ext cx="1964271" cy="952462"/>
            </a:xfrm>
            <a:prstGeom prst="rect">
              <a:avLst/>
            </a:prstGeom>
          </p:spPr>
          <p:txBody>
            <a:bodyPr anchor="ctr" rtlCol="false" tIns="50800" lIns="50800" bIns="50800" rIns="50800"/>
            <a:lstStyle/>
            <a:p>
              <a:pPr algn="l">
                <a:lnSpc>
                  <a:spcPts val="1535"/>
                </a:lnSpc>
              </a:pPr>
              <a:r>
                <a:rPr lang="en-US" sz="1279">
                  <a:solidFill>
                    <a:srgbClr val="081428"/>
                  </a:solidFill>
                  <a:latin typeface="Calibri (MS)"/>
                  <a:ea typeface="Calibri (MS)"/>
                  <a:cs typeface="Calibri (MS)"/>
                  <a:sym typeface="Calibri (MS)"/>
                </a:rPr>
                <a:t>User</a:t>
              </a:r>
            </a:p>
          </p:txBody>
        </p:sp>
      </p:grpSp>
      <p:grpSp>
        <p:nvGrpSpPr>
          <p:cNvPr name="Group 10" id="10"/>
          <p:cNvGrpSpPr/>
          <p:nvPr/>
        </p:nvGrpSpPr>
        <p:grpSpPr>
          <a:xfrm rot="0">
            <a:off x="2140715" y="4286507"/>
            <a:ext cx="1473203" cy="692915"/>
            <a:chOff x="0" y="0"/>
            <a:chExt cx="1964271" cy="923887"/>
          </a:xfrm>
        </p:grpSpPr>
        <p:sp>
          <p:nvSpPr>
            <p:cNvPr name="Freeform 11" id="11"/>
            <p:cNvSpPr/>
            <p:nvPr/>
          </p:nvSpPr>
          <p:spPr>
            <a:xfrm flipH="false" flipV="false" rot="0">
              <a:off x="6731" y="6731"/>
              <a:ext cx="1950720" cy="910463"/>
            </a:xfrm>
            <a:custGeom>
              <a:avLst/>
              <a:gdLst/>
              <a:ahLst/>
              <a:cxnLst/>
              <a:rect r="r" b="b" t="t" l="l"/>
              <a:pathLst>
                <a:path h="910463" w="1950720">
                  <a:moveTo>
                    <a:pt x="0" y="151765"/>
                  </a:moveTo>
                  <a:cubicBezTo>
                    <a:pt x="0" y="67945"/>
                    <a:pt x="68453" y="0"/>
                    <a:pt x="152908" y="0"/>
                  </a:cubicBezTo>
                  <a:lnTo>
                    <a:pt x="1797812" y="0"/>
                  </a:lnTo>
                  <a:cubicBezTo>
                    <a:pt x="1882267" y="0"/>
                    <a:pt x="1950720" y="67945"/>
                    <a:pt x="1950720" y="151765"/>
                  </a:cubicBezTo>
                  <a:lnTo>
                    <a:pt x="1950720" y="758698"/>
                  </a:lnTo>
                  <a:cubicBezTo>
                    <a:pt x="1950720" y="842518"/>
                    <a:pt x="1882267" y="910463"/>
                    <a:pt x="1797812" y="910463"/>
                  </a:cubicBezTo>
                  <a:lnTo>
                    <a:pt x="152908" y="910463"/>
                  </a:lnTo>
                  <a:cubicBezTo>
                    <a:pt x="68453" y="910336"/>
                    <a:pt x="0" y="842391"/>
                    <a:pt x="0" y="758698"/>
                  </a:cubicBezTo>
                  <a:close/>
                </a:path>
              </a:pathLst>
            </a:custGeom>
            <a:solidFill>
              <a:srgbClr val="00C8FF"/>
            </a:solidFill>
          </p:spPr>
        </p:sp>
        <p:sp>
          <p:nvSpPr>
            <p:cNvPr name="Freeform 12" id="12"/>
            <p:cNvSpPr/>
            <p:nvPr/>
          </p:nvSpPr>
          <p:spPr>
            <a:xfrm flipH="false" flipV="false" rot="0">
              <a:off x="0" y="0"/>
              <a:ext cx="1964182" cy="923925"/>
            </a:xfrm>
            <a:custGeom>
              <a:avLst/>
              <a:gdLst/>
              <a:ahLst/>
              <a:cxnLst/>
              <a:rect r="r" b="b" t="t" l="l"/>
              <a:pathLst>
                <a:path h="923925" w="1964182">
                  <a:moveTo>
                    <a:pt x="0" y="158496"/>
                  </a:moveTo>
                  <a:cubicBezTo>
                    <a:pt x="0" y="70866"/>
                    <a:pt x="71501" y="0"/>
                    <a:pt x="159639" y="0"/>
                  </a:cubicBezTo>
                  <a:lnTo>
                    <a:pt x="1804543" y="0"/>
                  </a:lnTo>
                  <a:lnTo>
                    <a:pt x="1804543" y="6731"/>
                  </a:lnTo>
                  <a:lnTo>
                    <a:pt x="1804543" y="0"/>
                  </a:lnTo>
                  <a:cubicBezTo>
                    <a:pt x="1892681" y="0"/>
                    <a:pt x="1964182" y="70866"/>
                    <a:pt x="1964182" y="158496"/>
                  </a:cubicBezTo>
                  <a:lnTo>
                    <a:pt x="1957451" y="158496"/>
                  </a:lnTo>
                  <a:lnTo>
                    <a:pt x="1964182" y="158496"/>
                  </a:lnTo>
                  <a:lnTo>
                    <a:pt x="1964182" y="765429"/>
                  </a:lnTo>
                  <a:lnTo>
                    <a:pt x="1957451" y="765429"/>
                  </a:lnTo>
                  <a:lnTo>
                    <a:pt x="1964182" y="765429"/>
                  </a:lnTo>
                  <a:cubicBezTo>
                    <a:pt x="1964182" y="853059"/>
                    <a:pt x="1892681" y="923925"/>
                    <a:pt x="1804543" y="923925"/>
                  </a:cubicBezTo>
                  <a:lnTo>
                    <a:pt x="1804543" y="917194"/>
                  </a:lnTo>
                  <a:lnTo>
                    <a:pt x="1804543" y="923925"/>
                  </a:lnTo>
                  <a:lnTo>
                    <a:pt x="159639" y="923925"/>
                  </a:lnTo>
                  <a:lnTo>
                    <a:pt x="159639" y="917194"/>
                  </a:lnTo>
                  <a:lnTo>
                    <a:pt x="159639" y="923925"/>
                  </a:lnTo>
                  <a:cubicBezTo>
                    <a:pt x="71501" y="923925"/>
                    <a:pt x="0" y="852932"/>
                    <a:pt x="0" y="765429"/>
                  </a:cubicBezTo>
                  <a:lnTo>
                    <a:pt x="0" y="158496"/>
                  </a:lnTo>
                  <a:lnTo>
                    <a:pt x="6731" y="158496"/>
                  </a:lnTo>
                  <a:lnTo>
                    <a:pt x="0" y="158496"/>
                  </a:lnTo>
                  <a:moveTo>
                    <a:pt x="13589" y="158496"/>
                  </a:moveTo>
                  <a:lnTo>
                    <a:pt x="13589" y="765429"/>
                  </a:lnTo>
                  <a:lnTo>
                    <a:pt x="6731" y="765429"/>
                  </a:lnTo>
                  <a:lnTo>
                    <a:pt x="13462" y="765429"/>
                  </a:lnTo>
                  <a:cubicBezTo>
                    <a:pt x="13462" y="845439"/>
                    <a:pt x="78867" y="910336"/>
                    <a:pt x="159639" y="910336"/>
                  </a:cubicBezTo>
                  <a:lnTo>
                    <a:pt x="1804543" y="910336"/>
                  </a:lnTo>
                  <a:cubicBezTo>
                    <a:pt x="1885315" y="910336"/>
                    <a:pt x="1950720" y="845439"/>
                    <a:pt x="1950720" y="765429"/>
                  </a:cubicBezTo>
                  <a:lnTo>
                    <a:pt x="1950720" y="158496"/>
                  </a:lnTo>
                  <a:cubicBezTo>
                    <a:pt x="1950720" y="78486"/>
                    <a:pt x="1885315" y="13589"/>
                    <a:pt x="1804543" y="13589"/>
                  </a:cubicBezTo>
                  <a:lnTo>
                    <a:pt x="159639" y="13589"/>
                  </a:lnTo>
                  <a:lnTo>
                    <a:pt x="159639" y="6731"/>
                  </a:lnTo>
                  <a:lnTo>
                    <a:pt x="159639" y="13462"/>
                  </a:lnTo>
                  <a:cubicBezTo>
                    <a:pt x="78867" y="13589"/>
                    <a:pt x="13589" y="78486"/>
                    <a:pt x="13589" y="158496"/>
                  </a:cubicBezTo>
                  <a:close/>
                </a:path>
              </a:pathLst>
            </a:custGeom>
            <a:solidFill>
              <a:srgbClr val="4A7EBB"/>
            </a:solidFill>
          </p:spPr>
        </p:sp>
        <p:sp>
          <p:nvSpPr>
            <p:cNvPr name="TextBox 13" id="13"/>
            <p:cNvSpPr txBox="true"/>
            <p:nvPr/>
          </p:nvSpPr>
          <p:spPr>
            <a:xfrm>
              <a:off x="0" y="-28575"/>
              <a:ext cx="1964271" cy="952462"/>
            </a:xfrm>
            <a:prstGeom prst="rect">
              <a:avLst/>
            </a:prstGeom>
          </p:spPr>
          <p:txBody>
            <a:bodyPr anchor="ctr" rtlCol="false" tIns="50800" lIns="50800" bIns="50800" rIns="50800"/>
            <a:lstStyle/>
            <a:p>
              <a:pPr algn="l">
                <a:lnSpc>
                  <a:spcPts val="1535"/>
                </a:lnSpc>
              </a:pPr>
              <a:r>
                <a:rPr lang="en-US" sz="1279">
                  <a:solidFill>
                    <a:srgbClr val="081428"/>
                  </a:solidFill>
                  <a:latin typeface="Calibri (MS)"/>
                  <a:ea typeface="Calibri (MS)"/>
                  <a:cs typeface="Calibri (MS)"/>
                  <a:sym typeface="Calibri (MS)"/>
                </a:rPr>
                <a:t>Frontend</a:t>
              </a:r>
            </a:p>
          </p:txBody>
        </p:sp>
      </p:grpSp>
      <p:grpSp>
        <p:nvGrpSpPr>
          <p:cNvPr name="Group 14" id="14"/>
          <p:cNvGrpSpPr/>
          <p:nvPr/>
        </p:nvGrpSpPr>
        <p:grpSpPr>
          <a:xfrm rot="0">
            <a:off x="3701291" y="4286507"/>
            <a:ext cx="1473203" cy="692915"/>
            <a:chOff x="0" y="0"/>
            <a:chExt cx="1964271" cy="923887"/>
          </a:xfrm>
        </p:grpSpPr>
        <p:sp>
          <p:nvSpPr>
            <p:cNvPr name="Freeform 15" id="15"/>
            <p:cNvSpPr/>
            <p:nvPr/>
          </p:nvSpPr>
          <p:spPr>
            <a:xfrm flipH="false" flipV="false" rot="0">
              <a:off x="6731" y="6731"/>
              <a:ext cx="1950720" cy="910463"/>
            </a:xfrm>
            <a:custGeom>
              <a:avLst/>
              <a:gdLst/>
              <a:ahLst/>
              <a:cxnLst/>
              <a:rect r="r" b="b" t="t" l="l"/>
              <a:pathLst>
                <a:path h="910463" w="1950720">
                  <a:moveTo>
                    <a:pt x="0" y="151765"/>
                  </a:moveTo>
                  <a:cubicBezTo>
                    <a:pt x="0" y="67945"/>
                    <a:pt x="68453" y="0"/>
                    <a:pt x="152908" y="0"/>
                  </a:cubicBezTo>
                  <a:lnTo>
                    <a:pt x="1797812" y="0"/>
                  </a:lnTo>
                  <a:cubicBezTo>
                    <a:pt x="1882267" y="0"/>
                    <a:pt x="1950720" y="67945"/>
                    <a:pt x="1950720" y="151765"/>
                  </a:cubicBezTo>
                  <a:lnTo>
                    <a:pt x="1950720" y="758698"/>
                  </a:lnTo>
                  <a:cubicBezTo>
                    <a:pt x="1950720" y="842518"/>
                    <a:pt x="1882267" y="910463"/>
                    <a:pt x="1797812" y="910463"/>
                  </a:cubicBezTo>
                  <a:lnTo>
                    <a:pt x="152908" y="910463"/>
                  </a:lnTo>
                  <a:cubicBezTo>
                    <a:pt x="68453" y="910336"/>
                    <a:pt x="0" y="842391"/>
                    <a:pt x="0" y="758698"/>
                  </a:cubicBezTo>
                  <a:close/>
                </a:path>
              </a:pathLst>
            </a:custGeom>
            <a:solidFill>
              <a:srgbClr val="00C8FF"/>
            </a:solidFill>
          </p:spPr>
        </p:sp>
        <p:sp>
          <p:nvSpPr>
            <p:cNvPr name="Freeform 16" id="16"/>
            <p:cNvSpPr/>
            <p:nvPr/>
          </p:nvSpPr>
          <p:spPr>
            <a:xfrm flipH="false" flipV="false" rot="0">
              <a:off x="0" y="0"/>
              <a:ext cx="1964182" cy="923925"/>
            </a:xfrm>
            <a:custGeom>
              <a:avLst/>
              <a:gdLst/>
              <a:ahLst/>
              <a:cxnLst/>
              <a:rect r="r" b="b" t="t" l="l"/>
              <a:pathLst>
                <a:path h="923925" w="1964182">
                  <a:moveTo>
                    <a:pt x="0" y="158496"/>
                  </a:moveTo>
                  <a:cubicBezTo>
                    <a:pt x="0" y="70866"/>
                    <a:pt x="71501" y="0"/>
                    <a:pt x="159639" y="0"/>
                  </a:cubicBezTo>
                  <a:lnTo>
                    <a:pt x="1804543" y="0"/>
                  </a:lnTo>
                  <a:lnTo>
                    <a:pt x="1804543" y="6731"/>
                  </a:lnTo>
                  <a:lnTo>
                    <a:pt x="1804543" y="0"/>
                  </a:lnTo>
                  <a:cubicBezTo>
                    <a:pt x="1892681" y="0"/>
                    <a:pt x="1964182" y="70866"/>
                    <a:pt x="1964182" y="158496"/>
                  </a:cubicBezTo>
                  <a:lnTo>
                    <a:pt x="1957451" y="158496"/>
                  </a:lnTo>
                  <a:lnTo>
                    <a:pt x="1964182" y="158496"/>
                  </a:lnTo>
                  <a:lnTo>
                    <a:pt x="1964182" y="765429"/>
                  </a:lnTo>
                  <a:lnTo>
                    <a:pt x="1957451" y="765429"/>
                  </a:lnTo>
                  <a:lnTo>
                    <a:pt x="1964182" y="765429"/>
                  </a:lnTo>
                  <a:cubicBezTo>
                    <a:pt x="1964182" y="853059"/>
                    <a:pt x="1892681" y="923925"/>
                    <a:pt x="1804543" y="923925"/>
                  </a:cubicBezTo>
                  <a:lnTo>
                    <a:pt x="1804543" y="917194"/>
                  </a:lnTo>
                  <a:lnTo>
                    <a:pt x="1804543" y="923925"/>
                  </a:lnTo>
                  <a:lnTo>
                    <a:pt x="159639" y="923925"/>
                  </a:lnTo>
                  <a:lnTo>
                    <a:pt x="159639" y="917194"/>
                  </a:lnTo>
                  <a:lnTo>
                    <a:pt x="159639" y="923925"/>
                  </a:lnTo>
                  <a:cubicBezTo>
                    <a:pt x="71501" y="923925"/>
                    <a:pt x="0" y="852932"/>
                    <a:pt x="0" y="765429"/>
                  </a:cubicBezTo>
                  <a:lnTo>
                    <a:pt x="0" y="158496"/>
                  </a:lnTo>
                  <a:lnTo>
                    <a:pt x="6731" y="158496"/>
                  </a:lnTo>
                  <a:lnTo>
                    <a:pt x="0" y="158496"/>
                  </a:lnTo>
                  <a:moveTo>
                    <a:pt x="13589" y="158496"/>
                  </a:moveTo>
                  <a:lnTo>
                    <a:pt x="13589" y="765429"/>
                  </a:lnTo>
                  <a:lnTo>
                    <a:pt x="6731" y="765429"/>
                  </a:lnTo>
                  <a:lnTo>
                    <a:pt x="13462" y="765429"/>
                  </a:lnTo>
                  <a:cubicBezTo>
                    <a:pt x="13462" y="845439"/>
                    <a:pt x="78867" y="910336"/>
                    <a:pt x="159639" y="910336"/>
                  </a:cubicBezTo>
                  <a:lnTo>
                    <a:pt x="1804543" y="910336"/>
                  </a:lnTo>
                  <a:cubicBezTo>
                    <a:pt x="1885315" y="910336"/>
                    <a:pt x="1950720" y="845439"/>
                    <a:pt x="1950720" y="765429"/>
                  </a:cubicBezTo>
                  <a:lnTo>
                    <a:pt x="1950720" y="158496"/>
                  </a:lnTo>
                  <a:cubicBezTo>
                    <a:pt x="1950720" y="78486"/>
                    <a:pt x="1885315" y="13589"/>
                    <a:pt x="1804543" y="13589"/>
                  </a:cubicBezTo>
                  <a:lnTo>
                    <a:pt x="159639" y="13589"/>
                  </a:lnTo>
                  <a:lnTo>
                    <a:pt x="159639" y="6731"/>
                  </a:lnTo>
                  <a:lnTo>
                    <a:pt x="159639" y="13462"/>
                  </a:lnTo>
                  <a:cubicBezTo>
                    <a:pt x="78867" y="13589"/>
                    <a:pt x="13589" y="78486"/>
                    <a:pt x="13589" y="158496"/>
                  </a:cubicBezTo>
                  <a:close/>
                </a:path>
              </a:pathLst>
            </a:custGeom>
            <a:solidFill>
              <a:srgbClr val="4A7EBB"/>
            </a:solidFill>
          </p:spPr>
        </p:sp>
        <p:sp>
          <p:nvSpPr>
            <p:cNvPr name="TextBox 17" id="17"/>
            <p:cNvSpPr txBox="true"/>
            <p:nvPr/>
          </p:nvSpPr>
          <p:spPr>
            <a:xfrm>
              <a:off x="0" y="-28575"/>
              <a:ext cx="1964271" cy="952462"/>
            </a:xfrm>
            <a:prstGeom prst="rect">
              <a:avLst/>
            </a:prstGeom>
          </p:spPr>
          <p:txBody>
            <a:bodyPr anchor="ctr" rtlCol="false" tIns="50800" lIns="50800" bIns="50800" rIns="50800"/>
            <a:lstStyle/>
            <a:p>
              <a:pPr algn="l">
                <a:lnSpc>
                  <a:spcPts val="1535"/>
                </a:lnSpc>
              </a:pPr>
              <a:r>
                <a:rPr lang="en-US" sz="1279">
                  <a:solidFill>
                    <a:srgbClr val="081428"/>
                  </a:solidFill>
                  <a:latin typeface="Calibri (MS)"/>
                  <a:ea typeface="Calibri (MS)"/>
                  <a:cs typeface="Calibri (MS)"/>
                  <a:sym typeface="Calibri (MS)"/>
                </a:rPr>
                <a:t>Gateway</a:t>
              </a:r>
            </a:p>
          </p:txBody>
        </p:sp>
      </p:grpSp>
      <p:grpSp>
        <p:nvGrpSpPr>
          <p:cNvPr name="Group 18" id="18"/>
          <p:cNvGrpSpPr/>
          <p:nvPr/>
        </p:nvGrpSpPr>
        <p:grpSpPr>
          <a:xfrm rot="0">
            <a:off x="5261867" y="4286507"/>
            <a:ext cx="1473203" cy="692915"/>
            <a:chOff x="0" y="0"/>
            <a:chExt cx="1964271" cy="923887"/>
          </a:xfrm>
        </p:grpSpPr>
        <p:sp>
          <p:nvSpPr>
            <p:cNvPr name="Freeform 19" id="19"/>
            <p:cNvSpPr/>
            <p:nvPr/>
          </p:nvSpPr>
          <p:spPr>
            <a:xfrm flipH="false" flipV="false" rot="0">
              <a:off x="6731" y="6731"/>
              <a:ext cx="1950720" cy="910463"/>
            </a:xfrm>
            <a:custGeom>
              <a:avLst/>
              <a:gdLst/>
              <a:ahLst/>
              <a:cxnLst/>
              <a:rect r="r" b="b" t="t" l="l"/>
              <a:pathLst>
                <a:path h="910463" w="1950720">
                  <a:moveTo>
                    <a:pt x="0" y="151765"/>
                  </a:moveTo>
                  <a:cubicBezTo>
                    <a:pt x="0" y="67945"/>
                    <a:pt x="68453" y="0"/>
                    <a:pt x="152908" y="0"/>
                  </a:cubicBezTo>
                  <a:lnTo>
                    <a:pt x="1797812" y="0"/>
                  </a:lnTo>
                  <a:cubicBezTo>
                    <a:pt x="1882267" y="0"/>
                    <a:pt x="1950720" y="67945"/>
                    <a:pt x="1950720" y="151765"/>
                  </a:cubicBezTo>
                  <a:lnTo>
                    <a:pt x="1950720" y="758698"/>
                  </a:lnTo>
                  <a:cubicBezTo>
                    <a:pt x="1950720" y="842518"/>
                    <a:pt x="1882267" y="910463"/>
                    <a:pt x="1797812" y="910463"/>
                  </a:cubicBezTo>
                  <a:lnTo>
                    <a:pt x="152908" y="910463"/>
                  </a:lnTo>
                  <a:cubicBezTo>
                    <a:pt x="68453" y="910336"/>
                    <a:pt x="0" y="842391"/>
                    <a:pt x="0" y="758698"/>
                  </a:cubicBezTo>
                  <a:close/>
                </a:path>
              </a:pathLst>
            </a:custGeom>
            <a:solidFill>
              <a:srgbClr val="00C8FF"/>
            </a:solidFill>
          </p:spPr>
        </p:sp>
        <p:sp>
          <p:nvSpPr>
            <p:cNvPr name="Freeform 20" id="20"/>
            <p:cNvSpPr/>
            <p:nvPr/>
          </p:nvSpPr>
          <p:spPr>
            <a:xfrm flipH="false" flipV="false" rot="0">
              <a:off x="0" y="0"/>
              <a:ext cx="1964182" cy="923925"/>
            </a:xfrm>
            <a:custGeom>
              <a:avLst/>
              <a:gdLst/>
              <a:ahLst/>
              <a:cxnLst/>
              <a:rect r="r" b="b" t="t" l="l"/>
              <a:pathLst>
                <a:path h="923925" w="1964182">
                  <a:moveTo>
                    <a:pt x="0" y="158496"/>
                  </a:moveTo>
                  <a:cubicBezTo>
                    <a:pt x="0" y="70866"/>
                    <a:pt x="71501" y="0"/>
                    <a:pt x="159639" y="0"/>
                  </a:cubicBezTo>
                  <a:lnTo>
                    <a:pt x="1804543" y="0"/>
                  </a:lnTo>
                  <a:lnTo>
                    <a:pt x="1804543" y="6731"/>
                  </a:lnTo>
                  <a:lnTo>
                    <a:pt x="1804543" y="0"/>
                  </a:lnTo>
                  <a:cubicBezTo>
                    <a:pt x="1892681" y="0"/>
                    <a:pt x="1964182" y="70866"/>
                    <a:pt x="1964182" y="158496"/>
                  </a:cubicBezTo>
                  <a:lnTo>
                    <a:pt x="1957451" y="158496"/>
                  </a:lnTo>
                  <a:lnTo>
                    <a:pt x="1964182" y="158496"/>
                  </a:lnTo>
                  <a:lnTo>
                    <a:pt x="1964182" y="765429"/>
                  </a:lnTo>
                  <a:lnTo>
                    <a:pt x="1957451" y="765429"/>
                  </a:lnTo>
                  <a:lnTo>
                    <a:pt x="1964182" y="765429"/>
                  </a:lnTo>
                  <a:cubicBezTo>
                    <a:pt x="1964182" y="853059"/>
                    <a:pt x="1892681" y="923925"/>
                    <a:pt x="1804543" y="923925"/>
                  </a:cubicBezTo>
                  <a:lnTo>
                    <a:pt x="1804543" y="917194"/>
                  </a:lnTo>
                  <a:lnTo>
                    <a:pt x="1804543" y="923925"/>
                  </a:lnTo>
                  <a:lnTo>
                    <a:pt x="159639" y="923925"/>
                  </a:lnTo>
                  <a:lnTo>
                    <a:pt x="159639" y="917194"/>
                  </a:lnTo>
                  <a:lnTo>
                    <a:pt x="159639" y="923925"/>
                  </a:lnTo>
                  <a:cubicBezTo>
                    <a:pt x="71501" y="923925"/>
                    <a:pt x="0" y="852932"/>
                    <a:pt x="0" y="765429"/>
                  </a:cubicBezTo>
                  <a:lnTo>
                    <a:pt x="0" y="158496"/>
                  </a:lnTo>
                  <a:lnTo>
                    <a:pt x="6731" y="158496"/>
                  </a:lnTo>
                  <a:lnTo>
                    <a:pt x="0" y="158496"/>
                  </a:lnTo>
                  <a:moveTo>
                    <a:pt x="13589" y="158496"/>
                  </a:moveTo>
                  <a:lnTo>
                    <a:pt x="13589" y="765429"/>
                  </a:lnTo>
                  <a:lnTo>
                    <a:pt x="6731" y="765429"/>
                  </a:lnTo>
                  <a:lnTo>
                    <a:pt x="13462" y="765429"/>
                  </a:lnTo>
                  <a:cubicBezTo>
                    <a:pt x="13462" y="845439"/>
                    <a:pt x="78867" y="910336"/>
                    <a:pt x="159639" y="910336"/>
                  </a:cubicBezTo>
                  <a:lnTo>
                    <a:pt x="1804543" y="910336"/>
                  </a:lnTo>
                  <a:cubicBezTo>
                    <a:pt x="1885315" y="910336"/>
                    <a:pt x="1950720" y="845439"/>
                    <a:pt x="1950720" y="765429"/>
                  </a:cubicBezTo>
                  <a:lnTo>
                    <a:pt x="1950720" y="158496"/>
                  </a:lnTo>
                  <a:cubicBezTo>
                    <a:pt x="1950720" y="78486"/>
                    <a:pt x="1885315" y="13589"/>
                    <a:pt x="1804543" y="13589"/>
                  </a:cubicBezTo>
                  <a:lnTo>
                    <a:pt x="159639" y="13589"/>
                  </a:lnTo>
                  <a:lnTo>
                    <a:pt x="159639" y="6731"/>
                  </a:lnTo>
                  <a:lnTo>
                    <a:pt x="159639" y="13462"/>
                  </a:lnTo>
                  <a:cubicBezTo>
                    <a:pt x="78867" y="13589"/>
                    <a:pt x="13589" y="78486"/>
                    <a:pt x="13589" y="158496"/>
                  </a:cubicBezTo>
                  <a:close/>
                </a:path>
              </a:pathLst>
            </a:custGeom>
            <a:solidFill>
              <a:srgbClr val="4A7EBB"/>
            </a:solidFill>
          </p:spPr>
        </p:sp>
        <p:sp>
          <p:nvSpPr>
            <p:cNvPr name="TextBox 21" id="21"/>
            <p:cNvSpPr txBox="true"/>
            <p:nvPr/>
          </p:nvSpPr>
          <p:spPr>
            <a:xfrm>
              <a:off x="0" y="-28575"/>
              <a:ext cx="1964271" cy="952462"/>
            </a:xfrm>
            <a:prstGeom prst="rect">
              <a:avLst/>
            </a:prstGeom>
          </p:spPr>
          <p:txBody>
            <a:bodyPr anchor="ctr" rtlCol="false" tIns="50800" lIns="50800" bIns="50800" rIns="50800"/>
            <a:lstStyle/>
            <a:p>
              <a:pPr algn="l">
                <a:lnSpc>
                  <a:spcPts val="1535"/>
                </a:lnSpc>
              </a:pPr>
              <a:r>
                <a:rPr lang="en-US" sz="1279">
                  <a:solidFill>
                    <a:srgbClr val="081428"/>
                  </a:solidFill>
                  <a:latin typeface="Calibri (MS)"/>
                  <a:ea typeface="Calibri (MS)"/>
                  <a:cs typeface="Calibri (MS)"/>
                  <a:sym typeface="Calibri (MS)"/>
                </a:rPr>
                <a:t>Docker</a:t>
              </a:r>
            </a:p>
          </p:txBody>
        </p:sp>
      </p:grpSp>
      <p:grpSp>
        <p:nvGrpSpPr>
          <p:cNvPr name="Group 22" id="22"/>
          <p:cNvGrpSpPr/>
          <p:nvPr/>
        </p:nvGrpSpPr>
        <p:grpSpPr>
          <a:xfrm rot="0">
            <a:off x="6822443" y="4286507"/>
            <a:ext cx="1473203" cy="692915"/>
            <a:chOff x="0" y="0"/>
            <a:chExt cx="1964271" cy="923887"/>
          </a:xfrm>
        </p:grpSpPr>
        <p:sp>
          <p:nvSpPr>
            <p:cNvPr name="Freeform 23" id="23"/>
            <p:cNvSpPr/>
            <p:nvPr/>
          </p:nvSpPr>
          <p:spPr>
            <a:xfrm flipH="false" flipV="false" rot="0">
              <a:off x="6731" y="6731"/>
              <a:ext cx="1950720" cy="910463"/>
            </a:xfrm>
            <a:custGeom>
              <a:avLst/>
              <a:gdLst/>
              <a:ahLst/>
              <a:cxnLst/>
              <a:rect r="r" b="b" t="t" l="l"/>
              <a:pathLst>
                <a:path h="910463" w="1950720">
                  <a:moveTo>
                    <a:pt x="0" y="151765"/>
                  </a:moveTo>
                  <a:cubicBezTo>
                    <a:pt x="0" y="67945"/>
                    <a:pt x="68453" y="0"/>
                    <a:pt x="152908" y="0"/>
                  </a:cubicBezTo>
                  <a:lnTo>
                    <a:pt x="1797812" y="0"/>
                  </a:lnTo>
                  <a:cubicBezTo>
                    <a:pt x="1882267" y="0"/>
                    <a:pt x="1950720" y="67945"/>
                    <a:pt x="1950720" y="151765"/>
                  </a:cubicBezTo>
                  <a:lnTo>
                    <a:pt x="1950720" y="758698"/>
                  </a:lnTo>
                  <a:cubicBezTo>
                    <a:pt x="1950720" y="842518"/>
                    <a:pt x="1882267" y="910463"/>
                    <a:pt x="1797812" y="910463"/>
                  </a:cubicBezTo>
                  <a:lnTo>
                    <a:pt x="152908" y="910463"/>
                  </a:lnTo>
                  <a:cubicBezTo>
                    <a:pt x="68453" y="910336"/>
                    <a:pt x="0" y="842391"/>
                    <a:pt x="0" y="758698"/>
                  </a:cubicBezTo>
                  <a:close/>
                </a:path>
              </a:pathLst>
            </a:custGeom>
            <a:solidFill>
              <a:srgbClr val="00C8FF"/>
            </a:solidFill>
          </p:spPr>
        </p:sp>
        <p:sp>
          <p:nvSpPr>
            <p:cNvPr name="Freeform 24" id="24"/>
            <p:cNvSpPr/>
            <p:nvPr/>
          </p:nvSpPr>
          <p:spPr>
            <a:xfrm flipH="false" flipV="false" rot="0">
              <a:off x="0" y="0"/>
              <a:ext cx="1964182" cy="923925"/>
            </a:xfrm>
            <a:custGeom>
              <a:avLst/>
              <a:gdLst/>
              <a:ahLst/>
              <a:cxnLst/>
              <a:rect r="r" b="b" t="t" l="l"/>
              <a:pathLst>
                <a:path h="923925" w="1964182">
                  <a:moveTo>
                    <a:pt x="0" y="158496"/>
                  </a:moveTo>
                  <a:cubicBezTo>
                    <a:pt x="0" y="70866"/>
                    <a:pt x="71501" y="0"/>
                    <a:pt x="159639" y="0"/>
                  </a:cubicBezTo>
                  <a:lnTo>
                    <a:pt x="1804543" y="0"/>
                  </a:lnTo>
                  <a:lnTo>
                    <a:pt x="1804543" y="6731"/>
                  </a:lnTo>
                  <a:lnTo>
                    <a:pt x="1804543" y="0"/>
                  </a:lnTo>
                  <a:cubicBezTo>
                    <a:pt x="1892681" y="0"/>
                    <a:pt x="1964182" y="70866"/>
                    <a:pt x="1964182" y="158496"/>
                  </a:cubicBezTo>
                  <a:lnTo>
                    <a:pt x="1957451" y="158496"/>
                  </a:lnTo>
                  <a:lnTo>
                    <a:pt x="1964182" y="158496"/>
                  </a:lnTo>
                  <a:lnTo>
                    <a:pt x="1964182" y="765429"/>
                  </a:lnTo>
                  <a:lnTo>
                    <a:pt x="1957451" y="765429"/>
                  </a:lnTo>
                  <a:lnTo>
                    <a:pt x="1964182" y="765429"/>
                  </a:lnTo>
                  <a:cubicBezTo>
                    <a:pt x="1964182" y="853059"/>
                    <a:pt x="1892681" y="923925"/>
                    <a:pt x="1804543" y="923925"/>
                  </a:cubicBezTo>
                  <a:lnTo>
                    <a:pt x="1804543" y="917194"/>
                  </a:lnTo>
                  <a:lnTo>
                    <a:pt x="1804543" y="923925"/>
                  </a:lnTo>
                  <a:lnTo>
                    <a:pt x="159639" y="923925"/>
                  </a:lnTo>
                  <a:lnTo>
                    <a:pt x="159639" y="917194"/>
                  </a:lnTo>
                  <a:lnTo>
                    <a:pt x="159639" y="923925"/>
                  </a:lnTo>
                  <a:cubicBezTo>
                    <a:pt x="71501" y="923925"/>
                    <a:pt x="0" y="852932"/>
                    <a:pt x="0" y="765429"/>
                  </a:cubicBezTo>
                  <a:lnTo>
                    <a:pt x="0" y="158496"/>
                  </a:lnTo>
                  <a:lnTo>
                    <a:pt x="6731" y="158496"/>
                  </a:lnTo>
                  <a:lnTo>
                    <a:pt x="0" y="158496"/>
                  </a:lnTo>
                  <a:moveTo>
                    <a:pt x="13589" y="158496"/>
                  </a:moveTo>
                  <a:lnTo>
                    <a:pt x="13589" y="765429"/>
                  </a:lnTo>
                  <a:lnTo>
                    <a:pt x="6731" y="765429"/>
                  </a:lnTo>
                  <a:lnTo>
                    <a:pt x="13462" y="765429"/>
                  </a:lnTo>
                  <a:cubicBezTo>
                    <a:pt x="13462" y="845439"/>
                    <a:pt x="78867" y="910336"/>
                    <a:pt x="159639" y="910336"/>
                  </a:cubicBezTo>
                  <a:lnTo>
                    <a:pt x="1804543" y="910336"/>
                  </a:lnTo>
                  <a:cubicBezTo>
                    <a:pt x="1885315" y="910336"/>
                    <a:pt x="1950720" y="845439"/>
                    <a:pt x="1950720" y="765429"/>
                  </a:cubicBezTo>
                  <a:lnTo>
                    <a:pt x="1950720" y="158496"/>
                  </a:lnTo>
                  <a:cubicBezTo>
                    <a:pt x="1950720" y="78486"/>
                    <a:pt x="1885315" y="13589"/>
                    <a:pt x="1804543" y="13589"/>
                  </a:cubicBezTo>
                  <a:lnTo>
                    <a:pt x="159639" y="13589"/>
                  </a:lnTo>
                  <a:lnTo>
                    <a:pt x="159639" y="6731"/>
                  </a:lnTo>
                  <a:lnTo>
                    <a:pt x="159639" y="13462"/>
                  </a:lnTo>
                  <a:cubicBezTo>
                    <a:pt x="78867" y="13589"/>
                    <a:pt x="13589" y="78486"/>
                    <a:pt x="13589" y="158496"/>
                  </a:cubicBezTo>
                  <a:close/>
                </a:path>
              </a:pathLst>
            </a:custGeom>
            <a:solidFill>
              <a:srgbClr val="4A7EBB"/>
            </a:solidFill>
          </p:spPr>
        </p:sp>
        <p:sp>
          <p:nvSpPr>
            <p:cNvPr name="TextBox 25" id="25"/>
            <p:cNvSpPr txBox="true"/>
            <p:nvPr/>
          </p:nvSpPr>
          <p:spPr>
            <a:xfrm>
              <a:off x="0" y="-28575"/>
              <a:ext cx="1964271" cy="952462"/>
            </a:xfrm>
            <a:prstGeom prst="rect">
              <a:avLst/>
            </a:prstGeom>
          </p:spPr>
          <p:txBody>
            <a:bodyPr anchor="ctr" rtlCol="false" tIns="50800" lIns="50800" bIns="50800" rIns="50800"/>
            <a:lstStyle/>
            <a:p>
              <a:pPr algn="l">
                <a:lnSpc>
                  <a:spcPts val="1535"/>
                </a:lnSpc>
              </a:pPr>
              <a:r>
                <a:rPr lang="en-US" sz="1279">
                  <a:solidFill>
                    <a:srgbClr val="081428"/>
                  </a:solidFill>
                  <a:latin typeface="Calibri (MS)"/>
                  <a:ea typeface="Calibri (MS)"/>
                  <a:cs typeface="Calibri (MS)"/>
                  <a:sym typeface="Calibri (MS)"/>
                </a:rPr>
                <a:t>Database</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DAHBwAEDdlk</dc:identifier>
  <dcterms:modified xsi:type="dcterms:W3CDTF">2011-08-01T06:04:30Z</dcterms:modified>
  <cp:revision>1</cp:revision>
  <dc:title>Internship_Learning_Report_Anshika_Singh_3D_Dense_100Words.pptx</dc:title>
</cp:coreProperties>
</file>